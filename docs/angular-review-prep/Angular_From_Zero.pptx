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explains every Angular concept the project relies on, assuming no prior Angular knowledge. The companion file ANGULAR_FROM_ZERO.md has the long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understand these five, you understand the project. Component = piece of screen. Signal = variable that tells the screen when it changes. Service/store = shared object. Router = URL to page. HttpClient = backend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index.html contains the tui-root tag. main.ts calls bootstrapApplication, which means start the app, not the Bootstrap CSS. appConfig lists the providers. App's template is just a router-outlet. The router picks the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is app-wide plumbing; features is one folder per screen; generated is machine-written API code that must not be edited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component is three things working together: a class (state and logic), a template (HTML that shows the state), and styles (CSS scoped to this component). The @Component decorator is metadata that tells Angular this class is a component. selector is the custom tag name you could write in another template, for example &lt;tui-login-page&gt;; here routes load it instead, so nobody types the tag. imports lists every other component, directive or pipe the template uses; this is what standalone means, and there are no NgModules in this project. templateUrl and styleUrl point to the HTML and CSS files; small components such as ToastContainer put the template inline. Class members marked protected can be used from the template but not by outside code; private ones cannot be used from the template at all. Angular creates the class once per use, calling the constructor in an injection context, so inject() and effect() work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 holds state and handlers. The template displays state and calls handlers. Angular connects them: reading a signal in the template subscribes that spot in the page to the signal; calling a handler from an event can change a signal; only bindings that read a changed signal are redrawn. Snippets are simplified from login-page.ts and login-page.html.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are called like functions in templates. @for needs track so Angular can reuse DOM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is writable state. computed is derived and cached. effect is a side effect that re-runs when what it read changes. untracked stops an effect from depending on what the work inside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new SessionStore(), a class asks Angular with inject(). providedIn root means one shared instance. InjectionToken lets tests swap localStorage for a fake.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Shell has its own router-outlet; pages render inside it so the sidebar stays. loadComponent with import() means the page's code downloads on first visit. Legacy URLs redirect to /app/...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guard is a usability control, not security; the bundle is public and the API enforces access. sanitiseReturnUrl prevents an open redirect.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Generated clients provide typed methods. HttpClient sends the request. The interceptor attaches the token and handles 401s. Error codes are mapped by ErrorCatalog; branch on errorCode, not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 tokens last 15 minutes. On a 401 the interceptor renews once and retries once. Refresh tokens rotate; presenting a spent one is treated as theft and revokes all sessions, so concurrent renewals must share 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Observable does nothing until subscribed. The polling pattern appears four times: quotes 30s, dashboard 60s, notifications 10s, blotter 2s. Always ask who unsubscribes.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Orders are market orders; the API still requires a price so a protective limit of plus or minus 2 percent is sent. Pages learn a fill happened because the notification poll bumps a changes counter that effects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ran npm ci, ng build and ng test myself. Playwright e2e needs the backend so it was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design decision has a reason in the code comments and a trade-off a reviewer may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from reading the code; none block the build or tests. Item 1 was caused by the restructure.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Rehearse these four. The full table is in section 18 of the markdown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 circle large"/>
          <p:cNvSpPr/>
          <p:nvPr/>
        </p:nvSpPr>
        <p:spPr>
          <a:xfrm>
            <a:off x="6035040" y="-1097280"/>
            <a:ext cx="4572000" cy="45720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" name="motif circle small"/>
          <p:cNvSpPr/>
          <p:nvPr/>
        </p:nvSpPr>
        <p:spPr>
          <a:xfrm>
            <a:off x="7589520" y="310896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deck title"/>
          <p:cNvSpPr txBox="1"/>
          <p:nvPr/>
        </p:nvSpPr>
        <p:spPr>
          <a:xfrm>
            <a:off x="548640" y="118872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Angular, from zero</a:t>
            </a:r>
            <a:endParaRPr lang="en-US" sz="4800" dirty="0"/>
          </a:p>
        </p:txBody>
      </p:sp>
      <p:sp>
        <p:nvSpPr>
          <p:cNvPr id="5" name="deck subtitle"/>
          <p:cNvSpPr txBox="1"/>
          <p:nvPr/>
        </p:nvSpPr>
        <p:spPr>
          <a:xfrm>
            <a:off x="548640" y="2194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YRV Trading UI as the textbook</a:t>
            </a:r>
            <a:endParaRPr lang="en-US" sz="2200" dirty="0"/>
          </a:p>
        </p:txBody>
      </p:sp>
      <p:sp>
        <p:nvSpPr>
          <p:cNvPr id="6" name="deck footer"/>
          <p:cNvSpPr txBox="1"/>
          <p:nvPr/>
        </p:nvSpPr>
        <p:spPr>
          <a:xfrm>
            <a:off x="548640" y="4206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prep: Application/Frontend/frontend-app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ideas run the whole app</a:t>
            </a:r>
            <a:endParaRPr lang="en-US" sz="3200" dirty="0"/>
          </a:p>
        </p:txBody>
      </p:sp>
      <p:sp>
        <p:nvSpPr>
          <p:cNvPr id="4" name="idea 1 bg"/>
          <p:cNvSpPr/>
          <p:nvPr/>
        </p:nvSpPr>
        <p:spPr>
          <a:xfrm>
            <a:off x="457200" y="114300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dea 1 dot"/>
          <p:cNvSpPr/>
          <p:nvPr/>
        </p:nvSpPr>
        <p:spPr>
          <a:xfrm>
            <a:off x="594360" y="1234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idea 1 dot label"/>
          <p:cNvSpPr txBox="1"/>
          <p:nvPr/>
        </p:nvSpPr>
        <p:spPr>
          <a:xfrm>
            <a:off x="59436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idea 1 name"/>
          <p:cNvSpPr txBox="1"/>
          <p:nvPr/>
        </p:nvSpPr>
        <p:spPr>
          <a:xfrm>
            <a:off x="1143000" y="1143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</a:t>
            </a:r>
            <a:endParaRPr lang="en-US" sz="1600" dirty="0"/>
          </a:p>
        </p:txBody>
      </p:sp>
      <p:sp>
        <p:nvSpPr>
          <p:cNvPr id="8" name="idea 1 meaning"/>
          <p:cNvSpPr txBox="1"/>
          <p:nvPr/>
        </p:nvSpPr>
        <p:spPr>
          <a:xfrm>
            <a:off x="2926080" y="1143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screen: a TypeScript class + an HTML template + CSS</a:t>
            </a:r>
            <a:endParaRPr lang="en-US" sz="1400" dirty="0"/>
          </a:p>
        </p:txBody>
      </p:sp>
      <p:sp>
        <p:nvSpPr>
          <p:cNvPr id="9" name="idea 1 where"/>
          <p:cNvSpPr txBox="1"/>
          <p:nvPr/>
        </p:nvSpPr>
        <p:spPr>
          <a:xfrm>
            <a:off x="6400800" y="1143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LoginPage, DashboardPage, Shell</a:t>
            </a:r>
            <a:endParaRPr lang="en-US" sz="1100" dirty="0"/>
          </a:p>
        </p:txBody>
      </p:sp>
      <p:sp>
        <p:nvSpPr>
          <p:cNvPr id="10" name="idea 2 bg"/>
          <p:cNvSpPr/>
          <p:nvPr/>
        </p:nvSpPr>
        <p:spPr>
          <a:xfrm>
            <a:off x="457200" y="1783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dea 2 dot"/>
          <p:cNvSpPr/>
          <p:nvPr/>
        </p:nvSpPr>
        <p:spPr>
          <a:xfrm>
            <a:off x="594360" y="187452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idea 2 dot label"/>
          <p:cNvSpPr txBox="1"/>
          <p:nvPr/>
        </p:nvSpPr>
        <p:spPr>
          <a:xfrm>
            <a:off x="5943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idea 2 name"/>
          <p:cNvSpPr txBox="1"/>
          <p:nvPr/>
        </p:nvSpPr>
        <p:spPr>
          <a:xfrm>
            <a:off x="11430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600" dirty="0"/>
          </a:p>
        </p:txBody>
      </p:sp>
      <p:sp>
        <p:nvSpPr>
          <p:cNvPr id="14" name="idea 2 meaning"/>
          <p:cNvSpPr txBox="1"/>
          <p:nvPr/>
        </p:nvSpPr>
        <p:spPr>
          <a:xfrm>
            <a:off x="2926080" y="1783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that tells the screen when it changes</a:t>
            </a:r>
            <a:endParaRPr lang="en-US" sz="1400" dirty="0"/>
          </a:p>
        </p:txBody>
      </p:sp>
      <p:sp>
        <p:nvSpPr>
          <p:cNvPr id="15" name="idea 2 where"/>
          <p:cNvSpPr txBox="1"/>
          <p:nvPr/>
        </p:nvSpPr>
        <p:spPr>
          <a:xfrm>
            <a:off x="640080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signal(''), computed(...)</a:t>
            </a:r>
            <a:endParaRPr lang="en-US" sz="1100" dirty="0"/>
          </a:p>
        </p:txBody>
      </p:sp>
      <p:sp>
        <p:nvSpPr>
          <p:cNvPr id="16" name="idea 3 bg"/>
          <p:cNvSpPr/>
          <p:nvPr/>
        </p:nvSpPr>
        <p:spPr>
          <a:xfrm>
            <a:off x="457200" y="242316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dea 3 dot"/>
          <p:cNvSpPr/>
          <p:nvPr/>
        </p:nvSpPr>
        <p:spPr>
          <a:xfrm>
            <a:off x="594360" y="2514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idea 3 dot label"/>
          <p:cNvSpPr txBox="1"/>
          <p:nvPr/>
        </p:nvSpPr>
        <p:spPr>
          <a:xfrm>
            <a:off x="5943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idea 3 name"/>
          <p:cNvSpPr txBox="1"/>
          <p:nvPr/>
        </p:nvSpPr>
        <p:spPr>
          <a:xfrm>
            <a:off x="1143000" y="2423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/ store</a:t>
            </a:r>
            <a:endParaRPr lang="en-US" sz="1600" dirty="0"/>
          </a:p>
        </p:txBody>
      </p:sp>
      <p:sp>
        <p:nvSpPr>
          <p:cNvPr id="20" name="idea 3 meaning"/>
          <p:cNvSpPr txBox="1"/>
          <p:nvPr/>
        </p:nvSpPr>
        <p:spPr>
          <a:xfrm>
            <a:off x="292608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 created once and shared by everyone who asks</a:t>
            </a:r>
            <a:endParaRPr lang="en-US" sz="1400" dirty="0"/>
          </a:p>
        </p:txBody>
      </p:sp>
      <p:sp>
        <p:nvSpPr>
          <p:cNvPr id="21" name="idea 3 where"/>
          <p:cNvSpPr txBox="1"/>
          <p:nvPr/>
        </p:nvSpPr>
        <p:spPr>
          <a:xfrm>
            <a:off x="640080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SessionStore, NotificationStore</a:t>
            </a:r>
            <a:endParaRPr lang="en-US" sz="1100" dirty="0"/>
          </a:p>
        </p:txBody>
      </p:sp>
      <p:sp>
        <p:nvSpPr>
          <p:cNvPr id="22" name="idea 4 bg"/>
          <p:cNvSpPr/>
          <p:nvPr/>
        </p:nvSpPr>
        <p:spPr>
          <a:xfrm>
            <a:off x="457200" y="306324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dea 4 dot"/>
          <p:cNvSpPr/>
          <p:nvPr/>
        </p:nvSpPr>
        <p:spPr>
          <a:xfrm>
            <a:off x="594360" y="31546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idea 4 dot label"/>
          <p:cNvSpPr txBox="1"/>
          <p:nvPr/>
        </p:nvSpPr>
        <p:spPr>
          <a:xfrm>
            <a:off x="59436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idea 4 name"/>
          <p:cNvSpPr txBox="1"/>
          <p:nvPr/>
        </p:nvSpPr>
        <p:spPr>
          <a:xfrm>
            <a:off x="1143000" y="3063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</a:t>
            </a:r>
            <a:endParaRPr lang="en-US" sz="1600" dirty="0"/>
          </a:p>
        </p:txBody>
      </p:sp>
      <p:sp>
        <p:nvSpPr>
          <p:cNvPr id="26" name="idea 4 meaning"/>
          <p:cNvSpPr txBox="1"/>
          <p:nvPr/>
        </p:nvSpPr>
        <p:spPr>
          <a:xfrm>
            <a:off x="2926080" y="3063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a URL to a page and decides who may enter</a:t>
            </a:r>
            <a:endParaRPr lang="en-US" sz="1400" dirty="0"/>
          </a:p>
        </p:txBody>
      </p:sp>
      <p:sp>
        <p:nvSpPr>
          <p:cNvPr id="27" name="idea 4 where"/>
          <p:cNvSpPr txBox="1"/>
          <p:nvPr/>
        </p:nvSpPr>
        <p:spPr>
          <a:xfrm>
            <a:off x="6400800" y="30632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app.routes.ts, auth.guard.ts</a:t>
            </a:r>
            <a:endParaRPr lang="en-US" sz="1100" dirty="0"/>
          </a:p>
        </p:txBody>
      </p:sp>
      <p:sp>
        <p:nvSpPr>
          <p:cNvPr id="28" name="idea 5 bg"/>
          <p:cNvSpPr/>
          <p:nvPr/>
        </p:nvSpPr>
        <p:spPr>
          <a:xfrm>
            <a:off x="457200" y="370332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dea 5 dot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idea 5 dot label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idea 5 name"/>
          <p:cNvSpPr txBox="1"/>
          <p:nvPr/>
        </p:nvSpPr>
        <p:spPr>
          <a:xfrm>
            <a:off x="1143000" y="3703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HttpClient</a:t>
            </a:r>
            <a:endParaRPr lang="en-US" sz="1600" dirty="0"/>
          </a:p>
        </p:txBody>
      </p:sp>
      <p:sp>
        <p:nvSpPr>
          <p:cNvPr id="32" name="idea 5 meaning"/>
          <p:cNvSpPr txBox="1"/>
          <p:nvPr/>
        </p:nvSpPr>
        <p:spPr>
          <a:xfrm>
            <a:off x="2926080" y="3703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backend; answers arrive as Observables</a:t>
            </a:r>
            <a:endParaRPr lang="en-US" sz="1400" dirty="0"/>
          </a:p>
        </p:txBody>
      </p:sp>
      <p:sp>
        <p:nvSpPr>
          <p:cNvPr id="33" name="idea 5 where"/>
          <p:cNvSpPr txBox="1"/>
          <p:nvPr/>
        </p:nvSpPr>
        <p:spPr>
          <a:xfrm>
            <a:off x="6400800" y="3703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 clients, interceptor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runs when the page loads</a:t>
            </a:r>
            <a:endParaRPr lang="en-US" sz="3200" dirty="0"/>
          </a:p>
        </p:txBody>
      </p:sp>
      <p:sp>
        <p:nvSpPr>
          <p:cNvPr id="4" name="boot 1 bg"/>
          <p:cNvSpPr/>
          <p:nvPr/>
        </p:nvSpPr>
        <p:spPr>
          <a:xfrm>
            <a:off x="457200" y="1234440"/>
            <a:ext cx="1572768" cy="2331720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oot 1 dot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boot 1 dot label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boot 1 name"/>
          <p:cNvSpPr txBox="1"/>
          <p:nvPr/>
        </p:nvSpPr>
        <p:spPr>
          <a:xfrm>
            <a:off x="594360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index.html</a:t>
            </a:r>
            <a:endParaRPr lang="en-US" sz="1500" dirty="0"/>
          </a:p>
        </p:txBody>
      </p:sp>
      <p:sp>
        <p:nvSpPr>
          <p:cNvPr id="8" name="boot 1 body"/>
          <p:cNvSpPr txBox="1"/>
          <p:nvPr/>
        </p:nvSpPr>
        <p:spPr>
          <a:xfrm>
            <a:off x="594360" y="224028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&lt;tui-root&gt; and applies the saved theme early</a:t>
            </a:r>
            <a:endParaRPr lang="en-US" sz="1400" dirty="0"/>
          </a:p>
        </p:txBody>
      </p:sp>
      <p:sp>
        <p:nvSpPr>
          <p:cNvPr id="9" name="boot 2 bg"/>
          <p:cNvSpPr/>
          <p:nvPr/>
        </p:nvSpPr>
        <p:spPr>
          <a:xfrm>
            <a:off x="2121408" y="1234440"/>
            <a:ext cx="1572768" cy="2331720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oot 2 dot"/>
          <p:cNvSpPr/>
          <p:nvPr/>
        </p:nvSpPr>
        <p:spPr>
          <a:xfrm>
            <a:off x="2258568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oot 2 dot label"/>
          <p:cNvSpPr txBox="1"/>
          <p:nvPr/>
        </p:nvSpPr>
        <p:spPr>
          <a:xfrm>
            <a:off x="225856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boot 2 name"/>
          <p:cNvSpPr txBox="1"/>
          <p:nvPr/>
        </p:nvSpPr>
        <p:spPr>
          <a:xfrm>
            <a:off x="2258568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main.ts</a:t>
            </a:r>
            <a:endParaRPr lang="en-US" sz="1500" dirty="0"/>
          </a:p>
        </p:txBody>
      </p:sp>
      <p:sp>
        <p:nvSpPr>
          <p:cNvPr id="13" name="boot 2 body"/>
          <p:cNvSpPr txBox="1"/>
          <p:nvPr/>
        </p:nvSpPr>
        <p:spPr>
          <a:xfrm>
            <a:off x="2258568" y="224028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Angular with App and appConfig</a:t>
            </a:r>
            <a:endParaRPr lang="en-US" sz="1400" dirty="0"/>
          </a:p>
        </p:txBody>
      </p:sp>
      <p:sp>
        <p:nvSpPr>
          <p:cNvPr id="14" name="boot 3 bg"/>
          <p:cNvSpPr/>
          <p:nvPr/>
        </p:nvSpPr>
        <p:spPr>
          <a:xfrm>
            <a:off x="3785616" y="1234440"/>
            <a:ext cx="1572768" cy="2331720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oot 3 dot"/>
          <p:cNvSpPr/>
          <p:nvPr/>
        </p:nvSpPr>
        <p:spPr>
          <a:xfrm>
            <a:off x="3922776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oot 3 dot label"/>
          <p:cNvSpPr txBox="1"/>
          <p:nvPr/>
        </p:nvSpPr>
        <p:spPr>
          <a:xfrm>
            <a:off x="392277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boot 3 name"/>
          <p:cNvSpPr txBox="1"/>
          <p:nvPr/>
        </p:nvSpPr>
        <p:spPr>
          <a:xfrm>
            <a:off x="3922776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app.config</a:t>
            </a:r>
            <a:endParaRPr lang="en-US" sz="1500" dirty="0"/>
          </a:p>
        </p:txBody>
      </p:sp>
      <p:sp>
        <p:nvSpPr>
          <p:cNvPr id="18" name="boot 3 body"/>
          <p:cNvSpPr txBox="1"/>
          <p:nvPr/>
        </p:nvSpPr>
        <p:spPr>
          <a:xfrm>
            <a:off x="3922776" y="224028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Providers: router, HTTP + interceptor, API base URLs</a:t>
            </a:r>
            <a:endParaRPr lang="en-US" sz="1400" dirty="0"/>
          </a:p>
        </p:txBody>
      </p:sp>
      <p:sp>
        <p:nvSpPr>
          <p:cNvPr id="19" name="boot 4 bg"/>
          <p:cNvSpPr/>
          <p:nvPr/>
        </p:nvSpPr>
        <p:spPr>
          <a:xfrm>
            <a:off x="5449824" y="1234440"/>
            <a:ext cx="1572768" cy="2331720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oot 4 dot"/>
          <p:cNvSpPr/>
          <p:nvPr/>
        </p:nvSpPr>
        <p:spPr>
          <a:xfrm>
            <a:off x="5586984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boot 4 dot label"/>
          <p:cNvSpPr txBox="1"/>
          <p:nvPr/>
        </p:nvSpPr>
        <p:spPr>
          <a:xfrm>
            <a:off x="558698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boot 4 name"/>
          <p:cNvSpPr txBox="1"/>
          <p:nvPr/>
        </p:nvSpPr>
        <p:spPr>
          <a:xfrm>
            <a:off x="5586984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</a:t>
            </a:r>
            <a:endParaRPr lang="en-US" sz="1500" dirty="0"/>
          </a:p>
        </p:txBody>
      </p:sp>
      <p:sp>
        <p:nvSpPr>
          <p:cNvPr id="23" name="boot 4 body"/>
          <p:cNvSpPr txBox="1"/>
          <p:nvPr/>
        </p:nvSpPr>
        <p:spPr>
          <a:xfrm>
            <a:off x="5586984" y="224028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component. Template is only &lt;router-outlet /&gt;</a:t>
            </a:r>
            <a:endParaRPr lang="en-US" sz="1400" dirty="0"/>
          </a:p>
        </p:txBody>
      </p:sp>
      <p:sp>
        <p:nvSpPr>
          <p:cNvPr id="24" name="boot 5 bg"/>
          <p:cNvSpPr/>
          <p:nvPr/>
        </p:nvSpPr>
        <p:spPr>
          <a:xfrm>
            <a:off x="7114032" y="1234440"/>
            <a:ext cx="1572768" cy="2331720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boot 5 dot"/>
          <p:cNvSpPr/>
          <p:nvPr/>
        </p:nvSpPr>
        <p:spPr>
          <a:xfrm>
            <a:off x="7251192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oot 5 dot label"/>
          <p:cNvSpPr txBox="1"/>
          <p:nvPr/>
        </p:nvSpPr>
        <p:spPr>
          <a:xfrm>
            <a:off x="7251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boot 5 name"/>
          <p:cNvSpPr txBox="1"/>
          <p:nvPr/>
        </p:nvSpPr>
        <p:spPr>
          <a:xfrm>
            <a:off x="7251192" y="18745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</a:t>
            </a:r>
            <a:endParaRPr lang="en-US" sz="1500" dirty="0"/>
          </a:p>
        </p:txBody>
      </p:sp>
      <p:sp>
        <p:nvSpPr>
          <p:cNvPr id="28" name="boot 5 body"/>
          <p:cNvSpPr txBox="1"/>
          <p:nvPr/>
        </p:nvSpPr>
        <p:spPr>
          <a:xfrm>
            <a:off x="7251192" y="224028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URL, loads that page, draws it</a:t>
            </a:r>
            <a:endParaRPr lang="en-US" sz="1400" dirty="0"/>
          </a:p>
        </p:txBody>
      </p:sp>
      <p:sp>
        <p:nvSpPr>
          <p:cNvPr id="29" name="zoneless callout bg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zoneless callout"/>
          <p:cNvSpPr txBox="1"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Zoneless: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zone.js watching everything. Signals tell Angular exactly what changed, so state lives in signals.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folder tree bg"/>
          <p:cNvSpPr/>
          <p:nvPr/>
        </p:nvSpPr>
        <p:spPr>
          <a:xfrm>
            <a:off x="457200" y="1143000"/>
            <a:ext cx="475488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folder tree"/>
          <p:cNvSpPr txBox="1"/>
          <p:nvPr/>
        </p:nvSpPr>
        <p:spPr>
          <a:xfrm>
            <a:off x="594360" y="1234440"/>
            <a:ext cx="44805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src/app/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app.ts          root 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app.config.ts   providers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app.routes.ts   URL -&gt; page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core/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auth/  layout/  notifications/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services/  search/  theme/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user/  charts/  format/  errors/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features/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landing/ auth/ dashboard/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portfolio/ orders/ blotter/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bank-accounts/ account/ settings/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generated/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auth-client/  trade-client/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testing/fake-api.ts</a:t>
            </a:r>
            <a:endParaRPr lang="en-US" sz="1200" dirty="0"/>
          </a:p>
        </p:txBody>
      </p:sp>
      <p:sp>
        <p:nvSpPr>
          <p:cNvPr id="6" name="core note bg"/>
          <p:cNvSpPr/>
          <p:nvPr/>
        </p:nvSpPr>
        <p:spPr>
          <a:xfrm>
            <a:off x="5440680" y="1143000"/>
            <a:ext cx="32461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ore note head"/>
          <p:cNvSpPr txBox="1"/>
          <p:nvPr/>
        </p:nvSpPr>
        <p:spPr>
          <a:xfrm>
            <a:off x="5623560" y="12527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core/</a:t>
            </a:r>
            <a:endParaRPr lang="en-US" sz="1600" dirty="0"/>
          </a:p>
        </p:txBody>
      </p:sp>
      <p:sp>
        <p:nvSpPr>
          <p:cNvPr id="8" name="core note body"/>
          <p:cNvSpPr txBox="1"/>
          <p:nvPr/>
        </p:nvSpPr>
        <p:spPr>
          <a:xfrm>
            <a:off x="5623560" y="16459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App-wide plumbing: login state, HTTP interceptor, layout.</a:t>
            </a:r>
            <a:endParaRPr lang="en-US" sz="1400" dirty="0"/>
          </a:p>
        </p:txBody>
      </p:sp>
      <p:sp>
        <p:nvSpPr>
          <p:cNvPr id="9" name="features note bg"/>
          <p:cNvSpPr/>
          <p:nvPr/>
        </p:nvSpPr>
        <p:spPr>
          <a:xfrm>
            <a:off x="5440680" y="2377440"/>
            <a:ext cx="32461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eatures note head"/>
          <p:cNvSpPr txBox="1"/>
          <p:nvPr/>
        </p:nvSpPr>
        <p:spPr>
          <a:xfrm>
            <a:off x="5623560" y="24871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features/</a:t>
            </a:r>
            <a:endParaRPr lang="en-US" sz="1600" dirty="0"/>
          </a:p>
        </p:txBody>
      </p:sp>
      <p:sp>
        <p:nvSpPr>
          <p:cNvPr id="11" name="features note body"/>
          <p:cNvSpPr txBox="1"/>
          <p:nvPr/>
        </p:nvSpPr>
        <p:spPr>
          <a:xfrm>
            <a:off x="5623560" y="28803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folder per screen. Pages may use core, not the reverse.</a:t>
            </a:r>
            <a:endParaRPr lang="en-US" sz="1400" dirty="0"/>
          </a:p>
        </p:txBody>
      </p:sp>
      <p:sp>
        <p:nvSpPr>
          <p:cNvPr id="12" name="generated note bg"/>
          <p:cNvSpPr/>
          <p:nvPr/>
        </p:nvSpPr>
        <p:spPr>
          <a:xfrm>
            <a:off x="5440680" y="3611880"/>
            <a:ext cx="324612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generated note head"/>
          <p:cNvSpPr txBox="1"/>
          <p:nvPr/>
        </p:nvSpPr>
        <p:spPr>
          <a:xfrm>
            <a:off x="5623560" y="37216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generated/</a:t>
            </a:r>
            <a:endParaRPr lang="en-US" sz="1600" dirty="0"/>
          </a:p>
        </p:txBody>
      </p:sp>
      <p:sp>
        <p:nvSpPr>
          <p:cNvPr id="14" name="generated note body"/>
          <p:cNvSpPr txBox="1"/>
          <p:nvPr/>
        </p:nvSpPr>
        <p:spPr>
          <a:xfrm>
            <a:off x="5623560" y="4114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OpenAPI Generator. Never edit by hand.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component</a:t>
            </a:r>
            <a:endParaRPr lang="en-US" sz="3200" dirty="0"/>
          </a:p>
        </p:txBody>
      </p:sp>
      <p:sp>
        <p:nvSpPr>
          <p:cNvPr id="4" name="component code bg"/>
          <p:cNvSpPr/>
          <p:nvPr/>
        </p:nvSpPr>
        <p:spPr>
          <a:xfrm>
            <a:off x="457200" y="1143000"/>
            <a:ext cx="493776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mponent code"/>
          <p:cNvSpPr txBox="1"/>
          <p:nvPr/>
        </p:nvSpPr>
        <p:spPr>
          <a:xfrm>
            <a:off x="594360" y="1234440"/>
            <a:ext cx="46634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@Component({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 'tui-login-page',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imports: [RouterLink, ThemeToggle],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templateUrl: './login-page.html',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styleUrl: './login-page.css'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class LoginPage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protected readonly username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signal('');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protected readonly error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signal&lt;string | null&gt;(null);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protected onSubmit(e: Event)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anat 1 dot"/>
          <p:cNvSpPr/>
          <p:nvPr/>
        </p:nvSpPr>
        <p:spPr>
          <a:xfrm>
            <a:off x="5623560" y="118872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anat 1 dot label"/>
          <p:cNvSpPr txBox="1"/>
          <p:nvPr/>
        </p:nvSpPr>
        <p:spPr>
          <a:xfrm>
            <a:off x="56235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anat 1 text"/>
          <p:cNvSpPr txBox="1"/>
          <p:nvPr/>
        </p:nvSpPr>
        <p:spPr>
          <a:xfrm>
            <a:off x="6126480" y="1143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selector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 HTML tag name for this component.</a:t>
            </a:r>
            <a:endParaRPr lang="en-US" sz="1500" dirty="0"/>
          </a:p>
        </p:txBody>
      </p:sp>
      <p:sp>
        <p:nvSpPr>
          <p:cNvPr id="9" name="anat 2 dot"/>
          <p:cNvSpPr/>
          <p:nvPr/>
        </p:nvSpPr>
        <p:spPr>
          <a:xfrm>
            <a:off x="5623560" y="2075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anat 2 dot label"/>
          <p:cNvSpPr txBox="1"/>
          <p:nvPr/>
        </p:nvSpPr>
        <p:spPr>
          <a:xfrm>
            <a:off x="5623560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anat 2 text"/>
          <p:cNvSpPr txBox="1"/>
          <p:nvPr/>
        </p:nvSpPr>
        <p:spPr>
          <a:xfrm>
            <a:off x="6126480" y="202996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components the template uses.</a:t>
            </a:r>
            <a:endParaRPr lang="en-US" sz="1500" dirty="0"/>
          </a:p>
        </p:txBody>
      </p:sp>
      <p:sp>
        <p:nvSpPr>
          <p:cNvPr id="12" name="anat 3 dot"/>
          <p:cNvSpPr/>
          <p:nvPr/>
        </p:nvSpPr>
        <p:spPr>
          <a:xfrm>
            <a:off x="5623560" y="296265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anat 3 dot label"/>
          <p:cNvSpPr txBox="1"/>
          <p:nvPr/>
        </p:nvSpPr>
        <p:spPr>
          <a:xfrm>
            <a:off x="562356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anat 3 text"/>
          <p:cNvSpPr txBox="1"/>
          <p:nvPr/>
        </p:nvSpPr>
        <p:spPr>
          <a:xfrm>
            <a:off x="6126480" y="2916936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can see it; code outside cannot.</a:t>
            </a:r>
            <a:endParaRPr lang="en-US" sz="1500" dirty="0"/>
          </a:p>
        </p:txBody>
      </p:sp>
      <p:sp>
        <p:nvSpPr>
          <p:cNvPr id="15" name="anat 4 dot"/>
          <p:cNvSpPr/>
          <p:nvPr/>
        </p:nvSpPr>
        <p:spPr>
          <a:xfrm>
            <a:off x="5623560" y="384962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anat 4 dot label"/>
          <p:cNvSpPr txBox="1"/>
          <p:nvPr/>
        </p:nvSpPr>
        <p:spPr>
          <a:xfrm>
            <a:off x="5623560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anat 4 text"/>
          <p:cNvSpPr txBox="1"/>
          <p:nvPr/>
        </p:nvSpPr>
        <p:spPr>
          <a:xfrm>
            <a:off x="6126480" y="38039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styleUrl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scoped to this component only.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Anatomy, part 2: class meets template</a:t>
            </a:r>
            <a:endParaRPr lang="en-US" sz="3200" dirty="0"/>
          </a:p>
        </p:txBody>
      </p:sp>
      <p:sp>
        <p:nvSpPr>
          <p:cNvPr id="4" name="class side bg"/>
          <p:cNvSpPr/>
          <p:nvPr/>
        </p:nvSpPr>
        <p:spPr>
          <a:xfrm>
            <a:off x="457200" y="114300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lass side"/>
          <p:cNvSpPr txBox="1"/>
          <p:nvPr/>
        </p:nvSpPr>
        <p:spPr>
          <a:xfrm>
            <a:off x="594360" y="123444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login-page.ts  (the class)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 = signal('');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registered = signal(false);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onUsernameInput(e: Event)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this.username.set(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e.target.value);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mplate side bg"/>
          <p:cNvSpPr/>
          <p:nvPr/>
        </p:nvSpPr>
        <p:spPr>
          <a:xfrm>
            <a:off x="4663440" y="114300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mplate side"/>
          <p:cNvSpPr txBox="1"/>
          <p:nvPr/>
        </p:nvSpPr>
        <p:spPr>
          <a:xfrm>
            <a:off x="4800600" y="123444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login-page.html  (the template)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[value]="username()"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(input)="onUsernameInput($event)"&gt;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@if (registered())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class="alert"&gt;Account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created.&lt;/div&gt;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class to template bg"/>
          <p:cNvSpPr/>
          <p:nvPr/>
        </p:nvSpPr>
        <p:spPr>
          <a:xfrm>
            <a:off x="457200" y="3337560"/>
            <a:ext cx="26517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lass to template head"/>
          <p:cNvSpPr txBox="1"/>
          <p:nvPr/>
        </p:nvSpPr>
        <p:spPr>
          <a:xfrm>
            <a:off x="640080" y="3447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to screen</a:t>
            </a:r>
            <a:endParaRPr lang="en-US" sz="1500" dirty="0"/>
          </a:p>
        </p:txBody>
      </p:sp>
      <p:sp>
        <p:nvSpPr>
          <p:cNvPr id="10" name="class to template body"/>
          <p:cNvSpPr txBox="1"/>
          <p:nvPr/>
        </p:nvSpPr>
        <p:spPr>
          <a:xfrm>
            <a:off x="64008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username() in the template shows the value and registers the dependency.</a:t>
            </a:r>
            <a:endParaRPr lang="en-US" sz="1400" dirty="0"/>
          </a:p>
        </p:txBody>
      </p:sp>
      <p:sp>
        <p:nvSpPr>
          <p:cNvPr id="11" name="template to class bg"/>
          <p:cNvSpPr/>
          <p:nvPr/>
        </p:nvSpPr>
        <p:spPr>
          <a:xfrm>
            <a:off x="3246120" y="3337560"/>
            <a:ext cx="26517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mplate to class head"/>
          <p:cNvSpPr txBox="1"/>
          <p:nvPr/>
        </p:nvSpPr>
        <p:spPr>
          <a:xfrm>
            <a:off x="3429000" y="3447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to class</a:t>
            </a:r>
            <a:endParaRPr lang="en-US" sz="1500" dirty="0"/>
          </a:p>
        </p:txBody>
      </p:sp>
      <p:sp>
        <p:nvSpPr>
          <p:cNvPr id="13" name="template to class body"/>
          <p:cNvSpPr txBox="1"/>
          <p:nvPr/>
        </p:nvSpPr>
        <p:spPr>
          <a:xfrm>
            <a:off x="342900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(input) calls the method, which calls set(). That changes the signal.</a:t>
            </a:r>
            <a:endParaRPr lang="en-US" sz="1400" dirty="0"/>
          </a:p>
        </p:txBody>
      </p:sp>
      <p:sp>
        <p:nvSpPr>
          <p:cNvPr id="14" name="redraw bg"/>
          <p:cNvSpPr/>
          <p:nvPr/>
        </p:nvSpPr>
        <p:spPr>
          <a:xfrm>
            <a:off x="6035040" y="3337560"/>
            <a:ext cx="26517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redraw head"/>
          <p:cNvSpPr txBox="1"/>
          <p:nvPr/>
        </p:nvSpPr>
        <p:spPr>
          <a:xfrm>
            <a:off x="6217920" y="3447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 redraw</a:t>
            </a:r>
            <a:endParaRPr lang="en-US" sz="1500" dirty="0"/>
          </a:p>
        </p:txBody>
      </p:sp>
      <p:sp>
        <p:nvSpPr>
          <p:cNvPr id="16" name="redraw body"/>
          <p:cNvSpPr txBox="1"/>
          <p:nvPr/>
        </p:nvSpPr>
        <p:spPr>
          <a:xfrm>
            <a:off x="621792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bindings that read a changed signal update. No page-wide check.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 syntax: the five things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377440"/>
                <a:gridCol w="3200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value }}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a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toast.message }}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[prop]="x"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a property from a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[value]="username()"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(event)="fn()"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code on an event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(submit)="onSubmit($event)"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@if / @else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or hide a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@if (registered()) { ... 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@for (x of xs; track x.id)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 a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@for (toast of toasts(); ...)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mplate reminder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are read with parentheses in a template: username(), never username.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Signals: how the screen knows to update</a:t>
            </a:r>
            <a:endParaRPr lang="en-US" sz="3200" dirty="0"/>
          </a:p>
        </p:txBody>
      </p:sp>
      <p:sp>
        <p:nvSpPr>
          <p:cNvPr id="4" name="signal code bg"/>
          <p:cNvSpPr/>
          <p:nvPr/>
        </p:nvSpPr>
        <p:spPr>
          <a:xfrm>
            <a:off x="457200" y="1143000"/>
            <a:ext cx="420624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ignal code"/>
          <p:cNvSpPr txBox="1"/>
          <p:nvPr/>
        </p:nvSpPr>
        <p:spPr>
          <a:xfrm>
            <a:off x="594360" y="123444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 = signal(0);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count.set(5);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count.update(n =&gt; n + 1);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count();   // read it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double = computed(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() =&gt; count() * 2);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this.accountId();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untracked(() =&gt;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this.loadAccountData(id));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6" name="chain title"/>
          <p:cNvSpPr txBox="1"/>
          <p:nvPr/>
        </p:nvSpPr>
        <p:spPr>
          <a:xfrm>
            <a:off x="48920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ticket: one number drives all</a:t>
            </a:r>
            <a:endParaRPr lang="en-US" sz="1500" dirty="0"/>
          </a:p>
        </p:txBody>
      </p:sp>
      <p:sp>
        <p:nvSpPr>
          <p:cNvPr id="7" name="chain 1 bg"/>
          <p:cNvSpPr/>
          <p:nvPr/>
        </p:nvSpPr>
        <p:spPr>
          <a:xfrm>
            <a:off x="4892040" y="1554480"/>
            <a:ext cx="37947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hain 1"/>
          <p:cNvSpPr txBox="1"/>
          <p:nvPr/>
        </p:nvSpPr>
        <p:spPr>
          <a:xfrm>
            <a:off x="4892040" y="155448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(typed)</a:t>
            </a:r>
            <a:endParaRPr lang="en-US" sz="1400" dirty="0"/>
          </a:p>
        </p:txBody>
      </p:sp>
      <p:sp>
        <p:nvSpPr>
          <p:cNvPr id="9" name="chain arrow 1"/>
          <p:cNvSpPr txBox="1"/>
          <p:nvPr/>
        </p:nvSpPr>
        <p:spPr>
          <a:xfrm>
            <a:off x="4892040" y="20574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chain 2 bg"/>
          <p:cNvSpPr/>
          <p:nvPr/>
        </p:nvSpPr>
        <p:spPr>
          <a:xfrm>
            <a:off x="4892040" y="2331720"/>
            <a:ext cx="37947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hain 2"/>
          <p:cNvSpPr txBox="1"/>
          <p:nvPr/>
        </p:nvSpPr>
        <p:spPr>
          <a:xfrm>
            <a:off x="4892040" y="23317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estimatedTotal, protectedLimit</a:t>
            </a:r>
            <a:endParaRPr lang="en-US" sz="1400" dirty="0"/>
          </a:p>
        </p:txBody>
      </p:sp>
      <p:sp>
        <p:nvSpPr>
          <p:cNvPr id="12" name="chain arrow 2"/>
          <p:cNvSpPr txBox="1"/>
          <p:nvPr/>
        </p:nvSpPr>
        <p:spPr>
          <a:xfrm>
            <a:off x="4892040" y="28346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chain 3 bg"/>
          <p:cNvSpPr/>
          <p:nvPr/>
        </p:nvSpPr>
        <p:spPr>
          <a:xfrm>
            <a:off x="4892040" y="3108960"/>
            <a:ext cx="37947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hain 3"/>
          <p:cNvSpPr txBox="1"/>
          <p:nvPr/>
        </p:nvSpPr>
        <p:spPr>
          <a:xfrm>
            <a:off x="4892040" y="310896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(why you cannot submit)</a:t>
            </a:r>
            <a:endParaRPr lang="en-US" sz="1400" dirty="0"/>
          </a:p>
        </p:txBody>
      </p:sp>
      <p:sp>
        <p:nvSpPr>
          <p:cNvPr id="15" name="chain arrow 3"/>
          <p:cNvSpPr txBox="1"/>
          <p:nvPr/>
        </p:nvSpPr>
        <p:spPr>
          <a:xfrm>
            <a:off x="4892040" y="36118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chain 4 bg"/>
          <p:cNvSpPr/>
          <p:nvPr/>
        </p:nvSpPr>
        <p:spPr>
          <a:xfrm>
            <a:off x="4892040" y="3886200"/>
            <a:ext cx="37947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hain 4"/>
          <p:cNvSpPr txBox="1"/>
          <p:nvPr/>
        </p:nvSpPr>
        <p:spPr>
          <a:xfrm>
            <a:off x="4892040" y="38862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 disabled?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 injection and stores</a:t>
            </a:r>
            <a:endParaRPr lang="en-US" sz="3200" dirty="0"/>
          </a:p>
        </p:txBody>
      </p:sp>
      <p:sp>
        <p:nvSpPr>
          <p:cNvPr id="4" name="di code bg"/>
          <p:cNvSpPr/>
          <p:nvPr/>
        </p:nvSpPr>
        <p:spPr>
          <a:xfrm>
            <a:off x="457200" y="1143000"/>
            <a:ext cx="3566160" cy="155448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di code"/>
          <p:cNvSpPr txBox="1"/>
          <p:nvPr/>
        </p:nvSpPr>
        <p:spPr>
          <a:xfrm>
            <a:off x="594360" y="12344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@Injectable({ providedIn: 'root' 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class SessionStore {}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readonly session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inject(SessionStore);</a:t>
            </a:r>
            <a:endParaRPr lang="en-US" sz="1200" dirty="0"/>
          </a:p>
        </p:txBody>
      </p:sp>
      <p:sp>
        <p:nvSpPr>
          <p:cNvPr id="6" name="di explanation"/>
          <p:cNvSpPr txBox="1"/>
          <p:nvPr/>
        </p:nvSpPr>
        <p:spPr>
          <a:xfrm>
            <a:off x="457200" y="2834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don't create.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asks gets the same instance, so login, guard, interceptor and shell all agree.</a:t>
            </a:r>
            <a:endParaRPr lang="en-US" sz="1400" dirty="0"/>
          </a:p>
        </p:txBody>
      </p:sp>
      <p:sp>
        <p:nvSpPr>
          <p:cNvPr id="7" name="token explanation"/>
          <p:cNvSpPr txBox="1"/>
          <p:nvPr/>
        </p:nvSpPr>
        <p:spPr>
          <a:xfrm>
            <a:off x="457200" y="3749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InjectionToken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 slot for a non-class, like localStorage, so tests can swap it.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143000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SessionStore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Tokens, accountId, isSignedIn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UserProfileStore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email, phone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NotificationStore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 list, toasts, polling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ThemeService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or dark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ReturnUrlStore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you were going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tores footnote"/>
          <p:cNvSpPr txBox="1"/>
          <p:nvPr/>
        </p:nvSpPr>
        <p:spPr>
          <a:xfrm>
            <a:off x="4297680" y="4251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drives everything: Shell watches it to start or stop profile loading and polling.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Routing and lazy loading</a:t>
            </a:r>
            <a:endParaRPr lang="en-US" sz="3200" dirty="0"/>
          </a:p>
        </p:txBody>
      </p:sp>
      <p:sp>
        <p:nvSpPr>
          <p:cNvPr id="4" name="route tree bg"/>
          <p:cNvSpPr/>
          <p:nvPr/>
        </p:nvSpPr>
        <p:spPr>
          <a:xfrm>
            <a:off x="457200" y="1143000"/>
            <a:ext cx="457200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oute tree"/>
          <p:cNvSpPr txBox="1"/>
          <p:nvPr/>
        </p:nvSpPr>
        <p:spPr>
          <a:xfrm>
            <a:off x="594360" y="1234440"/>
            <a:ext cx="42976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                -&gt; LandingPage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/login           -&gt; LoginPage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/register, /verify-otp,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/forgot-password, /reset-password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  -&gt; Shell        [authGuard]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/dashboard   -&gt; DashboardPage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/portfolio   /orders   /blotter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/account     /settings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/bank-accounts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/dashboard ... -&gt; redirect /app/...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           -&gt; redirect /</a:t>
            </a:r>
            <a:endParaRPr lang="en-US" sz="1200" dirty="0"/>
          </a:p>
        </p:txBody>
      </p:sp>
      <p:sp>
        <p:nvSpPr>
          <p:cNvPr id="6" name="nested note bg"/>
          <p:cNvSpPr/>
          <p:nvPr/>
        </p:nvSpPr>
        <p:spPr>
          <a:xfrm>
            <a:off x="5257800" y="1143000"/>
            <a:ext cx="342900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nested note head"/>
          <p:cNvSpPr txBox="1"/>
          <p:nvPr/>
        </p:nvSpPr>
        <p:spPr>
          <a:xfrm>
            <a:off x="5440680" y="12527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outlets</a:t>
            </a:r>
            <a:endParaRPr lang="en-US" sz="1600" dirty="0"/>
          </a:p>
        </p:txBody>
      </p:sp>
      <p:sp>
        <p:nvSpPr>
          <p:cNvPr id="8" name="nested note body"/>
          <p:cNvSpPr txBox="1"/>
          <p:nvPr/>
        </p:nvSpPr>
        <p:spPr>
          <a:xfrm>
            <a:off x="5440680" y="1645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draws the frame; the page appears in Shell's own outlet.</a:t>
            </a:r>
            <a:endParaRPr lang="en-US" sz="1400" dirty="0"/>
          </a:p>
        </p:txBody>
      </p:sp>
      <p:sp>
        <p:nvSpPr>
          <p:cNvPr id="9" name="lazy note bg"/>
          <p:cNvSpPr/>
          <p:nvPr/>
        </p:nvSpPr>
        <p:spPr>
          <a:xfrm>
            <a:off x="5257800" y="2423160"/>
            <a:ext cx="342900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azy note head"/>
          <p:cNvSpPr txBox="1"/>
          <p:nvPr/>
        </p:nvSpPr>
        <p:spPr>
          <a:xfrm>
            <a:off x="5440680" y="25328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Lazy loading</a:t>
            </a:r>
            <a:endParaRPr lang="en-US" sz="1600" dirty="0"/>
          </a:p>
        </p:txBody>
      </p:sp>
      <p:sp>
        <p:nvSpPr>
          <p:cNvPr id="11" name="lazy note body"/>
          <p:cNvSpPr txBox="1"/>
          <p:nvPr/>
        </p:nvSpPr>
        <p:spPr>
          <a:xfrm>
            <a:off x="544068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import() fetches a page's code on first visit. Initial bundle: 808 kB.</a:t>
            </a:r>
            <a:endParaRPr lang="en-US" sz="1400" dirty="0"/>
          </a:p>
        </p:txBody>
      </p:sp>
      <p:sp>
        <p:nvSpPr>
          <p:cNvPr id="12" name="legacy note bg"/>
          <p:cNvSpPr/>
          <p:nvPr/>
        </p:nvSpPr>
        <p:spPr>
          <a:xfrm>
            <a:off x="5257800" y="3703320"/>
            <a:ext cx="34290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egacy note head"/>
          <p:cNvSpPr txBox="1"/>
          <p:nvPr/>
        </p:nvSpPr>
        <p:spPr>
          <a:xfrm>
            <a:off x="544068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redirects</a:t>
            </a:r>
            <a:endParaRPr lang="en-US" sz="1600" dirty="0"/>
          </a:p>
        </p:txBody>
      </p:sp>
      <p:sp>
        <p:nvSpPr>
          <p:cNvPr id="14" name="legacy note body"/>
          <p:cNvSpPr txBox="1"/>
          <p:nvPr/>
        </p:nvSpPr>
        <p:spPr>
          <a:xfrm>
            <a:off x="5440680" y="4206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URLs from before /app.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Guards and the return-URL flow</a:t>
            </a:r>
            <a:endParaRPr lang="en-US" sz="3200" dirty="0"/>
          </a:p>
        </p:txBody>
      </p:sp>
      <p:sp>
        <p:nvSpPr>
          <p:cNvPr id="4" name="guard 1 bg"/>
          <p:cNvSpPr/>
          <p:nvPr/>
        </p:nvSpPr>
        <p:spPr>
          <a:xfrm>
            <a:off x="457200" y="1188720"/>
            <a:ext cx="192024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uard 1 dot"/>
          <p:cNvSpPr/>
          <p:nvPr/>
        </p:nvSpPr>
        <p:spPr>
          <a:xfrm>
            <a:off x="594360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guard 1 dot label"/>
          <p:cNvSpPr txBox="1"/>
          <p:nvPr/>
        </p:nvSpPr>
        <p:spPr>
          <a:xfrm>
            <a:off x="59436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guard 1 name"/>
          <p:cNvSpPr txBox="1"/>
          <p:nvPr/>
        </p:nvSpPr>
        <p:spPr>
          <a:xfrm>
            <a:off x="59436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Signed out</a:t>
            </a:r>
            <a:endParaRPr lang="en-US" sz="1500" dirty="0"/>
          </a:p>
        </p:txBody>
      </p:sp>
      <p:sp>
        <p:nvSpPr>
          <p:cNvPr id="8" name="guard 1 body"/>
          <p:cNvSpPr txBox="1"/>
          <p:nvPr/>
        </p:nvSpPr>
        <p:spPr>
          <a:xfrm>
            <a:off x="594360" y="2148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opens /app/orders</a:t>
            </a:r>
            <a:endParaRPr lang="en-US" sz="1400" dirty="0"/>
          </a:p>
        </p:txBody>
      </p:sp>
      <p:sp>
        <p:nvSpPr>
          <p:cNvPr id="9" name="guard 2 bg"/>
          <p:cNvSpPr/>
          <p:nvPr/>
        </p:nvSpPr>
        <p:spPr>
          <a:xfrm>
            <a:off x="2542032" y="1188720"/>
            <a:ext cx="192024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guard 2 dot"/>
          <p:cNvSpPr/>
          <p:nvPr/>
        </p:nvSpPr>
        <p:spPr>
          <a:xfrm>
            <a:off x="2679192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guard 2 dot label"/>
          <p:cNvSpPr txBox="1"/>
          <p:nvPr/>
        </p:nvSpPr>
        <p:spPr>
          <a:xfrm>
            <a:off x="2679192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guard 2 name"/>
          <p:cNvSpPr txBox="1"/>
          <p:nvPr/>
        </p:nvSpPr>
        <p:spPr>
          <a:xfrm>
            <a:off x="2679192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 blocks</a:t>
            </a:r>
            <a:endParaRPr lang="en-US" sz="1500" dirty="0"/>
          </a:p>
        </p:txBody>
      </p:sp>
      <p:sp>
        <p:nvSpPr>
          <p:cNvPr id="13" name="guard 2 body"/>
          <p:cNvSpPr txBox="1"/>
          <p:nvPr/>
        </p:nvSpPr>
        <p:spPr>
          <a:xfrm>
            <a:off x="2679192" y="2148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authGuard returns a UrlTree to /login</a:t>
            </a:r>
            <a:endParaRPr lang="en-US" sz="1400" dirty="0"/>
          </a:p>
        </p:txBody>
      </p:sp>
      <p:sp>
        <p:nvSpPr>
          <p:cNvPr id="14" name="guard 3 bg"/>
          <p:cNvSpPr/>
          <p:nvPr/>
        </p:nvSpPr>
        <p:spPr>
          <a:xfrm>
            <a:off x="4626864" y="1188720"/>
            <a:ext cx="192024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guard 3 dot"/>
          <p:cNvSpPr/>
          <p:nvPr/>
        </p:nvSpPr>
        <p:spPr>
          <a:xfrm>
            <a:off x="4764024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guard 3 dot label"/>
          <p:cNvSpPr txBox="1"/>
          <p:nvPr/>
        </p:nvSpPr>
        <p:spPr>
          <a:xfrm>
            <a:off x="4764024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guard 3 name"/>
          <p:cNvSpPr txBox="1"/>
          <p:nvPr/>
        </p:nvSpPr>
        <p:spPr>
          <a:xfrm>
            <a:off x="4764024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it</a:t>
            </a:r>
            <a:endParaRPr lang="en-US" sz="1500" dirty="0"/>
          </a:p>
        </p:txBody>
      </p:sp>
      <p:sp>
        <p:nvSpPr>
          <p:cNvPr id="18" name="guard 3 body"/>
          <p:cNvSpPr txBox="1"/>
          <p:nvPr/>
        </p:nvSpPr>
        <p:spPr>
          <a:xfrm>
            <a:off x="4764024" y="2148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?returnUrl=/app/orders saved</a:t>
            </a:r>
            <a:endParaRPr lang="en-US" sz="1400" dirty="0"/>
          </a:p>
        </p:txBody>
      </p:sp>
      <p:sp>
        <p:nvSpPr>
          <p:cNvPr id="19" name="guard 4 bg"/>
          <p:cNvSpPr/>
          <p:nvPr/>
        </p:nvSpPr>
        <p:spPr>
          <a:xfrm>
            <a:off x="6711696" y="1188720"/>
            <a:ext cx="192024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guard 4 dot"/>
          <p:cNvSpPr/>
          <p:nvPr/>
        </p:nvSpPr>
        <p:spPr>
          <a:xfrm>
            <a:off x="6848856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guard 4 dot label"/>
          <p:cNvSpPr txBox="1"/>
          <p:nvPr/>
        </p:nvSpPr>
        <p:spPr>
          <a:xfrm>
            <a:off x="6848856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guard 4 name"/>
          <p:cNvSpPr txBox="1"/>
          <p:nvPr/>
        </p:nvSpPr>
        <p:spPr>
          <a:xfrm>
            <a:off x="6848856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</a:t>
            </a:r>
            <a:endParaRPr lang="en-US" sz="1500" dirty="0"/>
          </a:p>
        </p:txBody>
      </p:sp>
      <p:sp>
        <p:nvSpPr>
          <p:cNvPr id="23" name="guard 4 body"/>
          <p:cNvSpPr txBox="1"/>
          <p:nvPr/>
        </p:nvSpPr>
        <p:spPr>
          <a:xfrm>
            <a:off x="6848856" y="2148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LoginPage consumes the URL and goes there</a:t>
            </a:r>
            <a:endParaRPr lang="en-US" sz="1400" dirty="0"/>
          </a:p>
        </p:txBody>
      </p:sp>
      <p:sp>
        <p:nvSpPr>
          <p:cNvPr id="24" name="guard honesty bg"/>
          <p:cNvSpPr/>
          <p:nvPr/>
        </p:nvSpPr>
        <p:spPr>
          <a:xfrm>
            <a:off x="457200" y="31546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guard honesty"/>
          <p:cNvSpPr txBox="1"/>
          <p:nvPr/>
        </p:nvSpPr>
        <p:spPr>
          <a:xfrm>
            <a:off x="640080" y="324612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 in the review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is usability, not security. The API checks the token on every call.</a:t>
            </a:r>
            <a:endParaRPr lang="en-US" sz="1600" dirty="0"/>
          </a:p>
        </p:txBody>
      </p:sp>
      <p:sp>
        <p:nvSpPr>
          <p:cNvPr id="26" name="redirect bg"/>
          <p:cNvSpPr/>
          <p:nvPr/>
        </p:nvSpPr>
        <p:spPr>
          <a:xfrm>
            <a:off x="4709160" y="31546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redirect text"/>
          <p:cNvSpPr txBox="1"/>
          <p:nvPr/>
        </p:nvSpPr>
        <p:spPr>
          <a:xfrm>
            <a:off x="4892040" y="324612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sanitise returnUrl?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single-slash path on this site is accepted, so a crafted link cannot bounce a user to a look-alike site after login.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backend call travels</a:t>
            </a:r>
            <a:endParaRPr lang="en-US" sz="3200" dirty="0"/>
          </a:p>
        </p:txBody>
      </p:sp>
      <p:sp>
        <p:nvSpPr>
          <p:cNvPr id="4" name="http 1 bg"/>
          <p:cNvSpPr/>
          <p:nvPr/>
        </p:nvSpPr>
        <p:spPr>
          <a:xfrm>
            <a:off x="457200" y="1280160"/>
            <a:ext cx="1417320" cy="155448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http 1 text"/>
          <p:cNvSpPr txBox="1"/>
          <p:nvPr/>
        </p:nvSpPr>
        <p:spPr>
          <a:xfrm>
            <a:off x="548640" y="137160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 method</a:t>
            </a:r>
            <a:endParaRPr lang="en-US" sz="1400" dirty="0"/>
          </a:p>
        </p:txBody>
      </p:sp>
      <p:sp>
        <p:nvSpPr>
          <p:cNvPr id="6" name="http arrow 1"/>
          <p:cNvSpPr txBox="1"/>
          <p:nvPr/>
        </p:nvSpPr>
        <p:spPr>
          <a:xfrm>
            <a:off x="1874520" y="17830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▶</a:t>
            </a:r>
            <a:endParaRPr lang="en-US" sz="1200" dirty="0"/>
          </a:p>
        </p:txBody>
      </p:sp>
      <p:sp>
        <p:nvSpPr>
          <p:cNvPr id="7" name="http 2 bg"/>
          <p:cNvSpPr/>
          <p:nvPr/>
        </p:nvSpPr>
        <p:spPr>
          <a:xfrm>
            <a:off x="2121408" y="1280160"/>
            <a:ext cx="1417320" cy="155448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http 2 text"/>
          <p:cNvSpPr txBox="1"/>
          <p:nvPr/>
        </p:nvSpPr>
        <p:spPr>
          <a:xfrm>
            <a:off x="2212848" y="137160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 client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from the YAML contract</a:t>
            </a:r>
            <a:endParaRPr lang="en-US" sz="1400" dirty="0"/>
          </a:p>
        </p:txBody>
      </p:sp>
      <p:sp>
        <p:nvSpPr>
          <p:cNvPr id="9" name="http arrow 2"/>
          <p:cNvSpPr txBox="1"/>
          <p:nvPr/>
        </p:nvSpPr>
        <p:spPr>
          <a:xfrm>
            <a:off x="3538728" y="17830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▶</a:t>
            </a:r>
            <a:endParaRPr lang="en-US" sz="1200" dirty="0"/>
          </a:p>
        </p:txBody>
      </p:sp>
      <p:sp>
        <p:nvSpPr>
          <p:cNvPr id="10" name="http 3 bg"/>
          <p:cNvSpPr/>
          <p:nvPr/>
        </p:nvSpPr>
        <p:spPr>
          <a:xfrm>
            <a:off x="3785616" y="1280160"/>
            <a:ext cx="1417320" cy="155448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http 3 text"/>
          <p:cNvSpPr txBox="1"/>
          <p:nvPr/>
        </p:nvSpPr>
        <p:spPr>
          <a:xfrm>
            <a:off x="3877056" y="137160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HttpClient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request</a:t>
            </a:r>
            <a:endParaRPr lang="en-US" sz="1400" dirty="0"/>
          </a:p>
        </p:txBody>
      </p:sp>
      <p:sp>
        <p:nvSpPr>
          <p:cNvPr id="12" name="http arrow 3"/>
          <p:cNvSpPr txBox="1"/>
          <p:nvPr/>
        </p:nvSpPr>
        <p:spPr>
          <a:xfrm>
            <a:off x="5202936" y="17830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▶</a:t>
            </a:r>
            <a:endParaRPr lang="en-US" sz="1200" dirty="0"/>
          </a:p>
        </p:txBody>
      </p:sp>
      <p:sp>
        <p:nvSpPr>
          <p:cNvPr id="13" name="http 4 bg"/>
          <p:cNvSpPr/>
          <p:nvPr/>
        </p:nvSpPr>
        <p:spPr>
          <a:xfrm>
            <a:off x="5449824" y="1280160"/>
            <a:ext cx="1417320" cy="155448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http 4 text"/>
          <p:cNvSpPr txBox="1"/>
          <p:nvPr/>
        </p:nvSpPr>
        <p:spPr>
          <a:xfrm>
            <a:off x="5541264" y="137160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Interceptor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bearer token, renews on 401</a:t>
            </a:r>
            <a:endParaRPr lang="en-US" sz="1400" dirty="0"/>
          </a:p>
        </p:txBody>
      </p:sp>
      <p:sp>
        <p:nvSpPr>
          <p:cNvPr id="15" name="http arrow 4"/>
          <p:cNvSpPr txBox="1"/>
          <p:nvPr/>
        </p:nvSpPr>
        <p:spPr>
          <a:xfrm>
            <a:off x="6867144" y="17830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http 5 bg"/>
          <p:cNvSpPr/>
          <p:nvPr/>
        </p:nvSpPr>
        <p:spPr>
          <a:xfrm>
            <a:off x="7114032" y="1280160"/>
            <a:ext cx="1417320" cy="155448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http 5 text"/>
          <p:cNvSpPr txBox="1"/>
          <p:nvPr/>
        </p:nvSpPr>
        <p:spPr>
          <a:xfrm>
            <a:off x="7205472" y="137160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3000 and 8081</a:t>
            </a:r>
            <a:endParaRPr lang="en-US" sz="1400" dirty="0"/>
          </a:p>
        </p:txBody>
      </p:sp>
      <p:sp>
        <p:nvSpPr>
          <p:cNvPr id="18" name="generated card bg"/>
          <p:cNvSpPr/>
          <p:nvPr/>
        </p:nvSpPr>
        <p:spPr>
          <a:xfrm>
            <a:off x="457200" y="3063240"/>
            <a:ext cx="265176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generated card head"/>
          <p:cNvSpPr txBox="1"/>
          <p:nvPr/>
        </p:nvSpPr>
        <p:spPr>
          <a:xfrm>
            <a:off x="64008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</a:t>
            </a:r>
            <a:endParaRPr lang="en-US" sz="1600" dirty="0"/>
          </a:p>
        </p:txBody>
      </p:sp>
      <p:sp>
        <p:nvSpPr>
          <p:cNvPr id="20" name="generated card body"/>
          <p:cNvSpPr txBox="1"/>
          <p:nvPr/>
        </p:nvSpPr>
        <p:spPr>
          <a:xfrm>
            <a:off x="640080" y="3566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generate:clients writes models and services. Types match the contract; needs Java.</a:t>
            </a:r>
            <a:endParaRPr lang="en-US" sz="1400" dirty="0"/>
          </a:p>
        </p:txBody>
      </p:sp>
      <p:sp>
        <p:nvSpPr>
          <p:cNvPr id="21" name="handwritten card bg"/>
          <p:cNvSpPr/>
          <p:nvPr/>
        </p:nvSpPr>
        <p:spPr>
          <a:xfrm>
            <a:off x="3246120" y="3063240"/>
            <a:ext cx="265176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handwritten card head"/>
          <p:cNvSpPr txBox="1"/>
          <p:nvPr/>
        </p:nvSpPr>
        <p:spPr>
          <a:xfrm>
            <a:off x="342900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Hand-written</a:t>
            </a:r>
            <a:endParaRPr lang="en-US" sz="1600" dirty="0"/>
          </a:p>
        </p:txBody>
      </p:sp>
      <p:sp>
        <p:nvSpPr>
          <p:cNvPr id="23" name="handwritten card body"/>
          <p:cNvSpPr txBox="1"/>
          <p:nvPr/>
        </p:nvSpPr>
        <p:spPr>
          <a:xfrm>
            <a:off x="3429000" y="3566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Market, portfolio and bank-read are not in the contract, so they use HttpClient directly.</a:t>
            </a:r>
            <a:endParaRPr lang="en-US" sz="1400" dirty="0"/>
          </a:p>
        </p:txBody>
      </p:sp>
      <p:sp>
        <p:nvSpPr>
          <p:cNvPr id="24" name="errors card bg"/>
          <p:cNvSpPr/>
          <p:nvPr/>
        </p:nvSpPr>
        <p:spPr>
          <a:xfrm>
            <a:off x="6035040" y="3063240"/>
            <a:ext cx="265176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errors card head"/>
          <p:cNvSpPr txBox="1"/>
          <p:nvPr/>
        </p:nvSpPr>
        <p:spPr>
          <a:xfrm>
            <a:off x="621792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</a:t>
            </a:r>
            <a:endParaRPr lang="en-US" sz="1600" dirty="0"/>
          </a:p>
        </p:txBody>
      </p:sp>
      <p:sp>
        <p:nvSpPr>
          <p:cNvPr id="26" name="errors card body"/>
          <p:cNvSpPr txBox="1"/>
          <p:nvPr/>
        </p:nvSpPr>
        <p:spPr>
          <a:xfrm>
            <a:off x="6217920" y="3566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errorCode, message } maps to a friendly sentence in error-catalog.ts.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token-renewal flow (401)</a:t>
            </a:r>
            <a:endParaRPr lang="en-US" sz="3200" dirty="0"/>
          </a:p>
        </p:txBody>
      </p:sp>
      <p:sp>
        <p:nvSpPr>
          <p:cNvPr id="4" name="renew 1 dot"/>
          <p:cNvSpPr/>
          <p:nvPr/>
        </p:nvSpPr>
        <p:spPr>
          <a:xfrm>
            <a:off x="457200" y="1207008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renew 1 dot label"/>
          <p:cNvSpPr txBox="1"/>
          <p:nvPr/>
        </p:nvSpPr>
        <p:spPr>
          <a:xfrm>
            <a:off x="457200" y="1207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renew 1 text"/>
          <p:cNvSpPr txBox="1"/>
          <p:nvPr/>
        </p:nvSpPr>
        <p:spPr>
          <a:xfrm>
            <a:off x="1005840" y="11430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back 401</a:t>
            </a:r>
            <a:endParaRPr lang="en-US" sz="1500" dirty="0"/>
          </a:p>
        </p:txBody>
      </p:sp>
      <p:sp>
        <p:nvSpPr>
          <p:cNvPr id="7" name="renew 2 dot"/>
          <p:cNvSpPr/>
          <p:nvPr/>
        </p:nvSpPr>
        <p:spPr>
          <a:xfrm>
            <a:off x="457200" y="1911096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renew 2 dot label"/>
          <p:cNvSpPr txBox="1"/>
          <p:nvPr/>
        </p:nvSpPr>
        <p:spPr>
          <a:xfrm>
            <a:off x="457200" y="1911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renew 2 text"/>
          <p:cNvSpPr txBox="1"/>
          <p:nvPr/>
        </p:nvSpPr>
        <p:spPr>
          <a:xfrm>
            <a:off x="1005840" y="1847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refresh token? End session, go to /login</a:t>
            </a:r>
            <a:endParaRPr lang="en-US" sz="1500" dirty="0"/>
          </a:p>
        </p:txBody>
      </p:sp>
      <p:sp>
        <p:nvSpPr>
          <p:cNvPr id="10" name="renew 3 dot"/>
          <p:cNvSpPr/>
          <p:nvPr/>
        </p:nvSpPr>
        <p:spPr>
          <a:xfrm>
            <a:off x="457200" y="2615184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renew 3 dot label"/>
          <p:cNvSpPr txBox="1"/>
          <p:nvPr/>
        </p:nvSpPr>
        <p:spPr>
          <a:xfrm>
            <a:off x="457200" y="26151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renew 3 text"/>
          <p:cNvSpPr txBox="1"/>
          <p:nvPr/>
        </p:nvSpPr>
        <p:spPr>
          <a:xfrm>
            <a:off x="1005840" y="255117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call /auth/refresh: one shared call</a:t>
            </a:r>
            <a:endParaRPr lang="en-US" sz="1500" dirty="0"/>
          </a:p>
        </p:txBody>
      </p:sp>
      <p:sp>
        <p:nvSpPr>
          <p:cNvPr id="13" name="renew 4 dot"/>
          <p:cNvSpPr/>
          <p:nvPr/>
        </p:nvSpPr>
        <p:spPr>
          <a:xfrm>
            <a:off x="457200" y="3319272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renew 4 dot label"/>
          <p:cNvSpPr txBox="1"/>
          <p:nvPr/>
        </p:nvSpPr>
        <p:spPr>
          <a:xfrm>
            <a:off x="45720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renew 4 text"/>
          <p:cNvSpPr txBox="1"/>
          <p:nvPr/>
        </p:nvSpPr>
        <p:spPr>
          <a:xfrm>
            <a:off x="1005840" y="32552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new tokens, retry the request once</a:t>
            </a:r>
            <a:endParaRPr lang="en-US" sz="1500" dirty="0"/>
          </a:p>
        </p:txBody>
      </p:sp>
      <p:sp>
        <p:nvSpPr>
          <p:cNvPr id="16" name="renew 5 dot"/>
          <p:cNvSpPr/>
          <p:nvPr/>
        </p:nvSpPr>
        <p:spPr>
          <a:xfrm>
            <a:off x="457200" y="402336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renew 5 dot label"/>
          <p:cNvSpPr txBox="1"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renew 5 text"/>
          <p:cNvSpPr txBox="1"/>
          <p:nvPr/>
        </p:nvSpPr>
        <p:spPr>
          <a:xfrm>
            <a:off x="1005840" y="39593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still 401? End session. Any other error passes through</a:t>
            </a:r>
            <a:endParaRPr lang="en-US" sz="1500" dirty="0"/>
          </a:p>
        </p:txBody>
      </p:sp>
      <p:sp>
        <p:nvSpPr>
          <p:cNvPr id="19" name="why shared bg"/>
          <p:cNvSpPr/>
          <p:nvPr/>
        </p:nvSpPr>
        <p:spPr>
          <a:xfrm>
            <a:off x="5715000" y="1143000"/>
            <a:ext cx="2971800" cy="3520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why shared text"/>
          <p:cNvSpPr txBox="1"/>
          <p:nvPr/>
        </p:nvSpPr>
        <p:spPr>
          <a:xfrm>
            <a:off x="5897880" y="1280160"/>
            <a:ext cx="2606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shared call?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tokens rotate: using one revokes it.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renewals present a spent token. The server reads that as theft and signs the user out everywhere.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renewOnce + shareReplay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RxJS: streams, in one slide</a:t>
            </a:r>
            <a:endParaRPr lang="en-US" sz="3200" dirty="0"/>
          </a:p>
        </p:txBody>
      </p:sp>
      <p:sp>
        <p:nvSpPr>
          <p:cNvPr id="4" name="polling code bg"/>
          <p:cNvSpPr/>
          <p:nvPr/>
        </p:nvSpPr>
        <p:spPr>
          <a:xfrm>
            <a:off x="457200" y="1143000"/>
            <a:ext cx="4572000" cy="23774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olling code"/>
          <p:cNvSpPr txBox="1"/>
          <p:nvPr/>
        </p:nvSpPr>
        <p:spPr>
          <a:xfrm>
            <a:off x="594360" y="123444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timer(0, 30_000).pipe(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switchMap(() =&gt;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this.marketApi.getQuotes().pipe(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catchError(() =&gt; of(null))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).subscribe(quotes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(quotes === null) { keep old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{ this.quotes.set(quotes)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6" name="polling explanation"/>
          <p:cNvSpPr txBox="1"/>
          <p:nvPr/>
        </p:nvSpPr>
        <p:spPr>
          <a:xfrm>
            <a:off x="457200" y="36576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and every 30 s, fetch. A failure becomes null so the timer survives. A newer fetch cancels an older one.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143000"/>
          <a:ext cx="3429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switchMap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inner stream, cancel 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catchError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becomes a fallback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forkJoin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calls, one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shareReplay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one execution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Now, then every N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an order, end to end</a:t>
            </a:r>
            <a:endParaRPr lang="en-US" sz="3200" dirty="0"/>
          </a:p>
        </p:txBody>
      </p:sp>
      <p:sp>
        <p:nvSpPr>
          <p:cNvPr id="4" name="order 1 bg"/>
          <p:cNvSpPr/>
          <p:nvPr/>
        </p:nvSpPr>
        <p:spPr>
          <a:xfrm>
            <a:off x="457200" y="118872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order 1 dot"/>
          <p:cNvSpPr/>
          <p:nvPr/>
        </p:nvSpPr>
        <p:spPr>
          <a:xfrm>
            <a:off x="594360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order 1 dot label"/>
          <p:cNvSpPr txBox="1"/>
          <p:nvPr/>
        </p:nvSpPr>
        <p:spPr>
          <a:xfrm>
            <a:off x="59436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order 1 name"/>
          <p:cNvSpPr txBox="1"/>
          <p:nvPr/>
        </p:nvSpPr>
        <p:spPr>
          <a:xfrm>
            <a:off x="109728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</a:t>
            </a:r>
            <a:endParaRPr lang="en-US" sz="1600" dirty="0"/>
          </a:p>
        </p:txBody>
      </p:sp>
      <p:sp>
        <p:nvSpPr>
          <p:cNvPr id="8" name="order 1 body"/>
          <p:cNvSpPr txBox="1"/>
          <p:nvPr/>
        </p:nvSpPr>
        <p:spPr>
          <a:xfrm>
            <a:off x="594360" y="1828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every 30 s; balance and holdings via forkJoin</a:t>
            </a:r>
            <a:endParaRPr lang="en-US" sz="1400" dirty="0"/>
          </a:p>
        </p:txBody>
      </p:sp>
      <p:sp>
        <p:nvSpPr>
          <p:cNvPr id="9" name="order 2 bg"/>
          <p:cNvSpPr/>
          <p:nvPr/>
        </p:nvSpPr>
        <p:spPr>
          <a:xfrm>
            <a:off x="3246120" y="118872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rder 2 dot"/>
          <p:cNvSpPr/>
          <p:nvPr/>
        </p:nvSpPr>
        <p:spPr>
          <a:xfrm>
            <a:off x="3383280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order 2 dot label"/>
          <p:cNvSpPr txBox="1"/>
          <p:nvPr/>
        </p:nvSpPr>
        <p:spPr>
          <a:xfrm>
            <a:off x="338328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order 2 name"/>
          <p:cNvSpPr txBox="1"/>
          <p:nvPr/>
        </p:nvSpPr>
        <p:spPr>
          <a:xfrm>
            <a:off x="388620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</a:t>
            </a:r>
            <a:endParaRPr lang="en-US" sz="1600" dirty="0"/>
          </a:p>
        </p:txBody>
      </p:sp>
      <p:sp>
        <p:nvSpPr>
          <p:cNvPr id="13" name="order 2 body"/>
          <p:cNvSpPr txBox="1"/>
          <p:nvPr/>
        </p:nvSpPr>
        <p:spPr>
          <a:xfrm>
            <a:off x="3383280" y="1828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drives computed total and blocker</a:t>
            </a:r>
            <a:endParaRPr lang="en-US" sz="1400" dirty="0"/>
          </a:p>
        </p:txBody>
      </p:sp>
      <p:sp>
        <p:nvSpPr>
          <p:cNvPr id="14" name="order 3 bg"/>
          <p:cNvSpPr/>
          <p:nvPr/>
        </p:nvSpPr>
        <p:spPr>
          <a:xfrm>
            <a:off x="6035040" y="118872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order 3 dot"/>
          <p:cNvSpPr/>
          <p:nvPr/>
        </p:nvSpPr>
        <p:spPr>
          <a:xfrm>
            <a:off x="6172200" y="13258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order 3 dot label"/>
          <p:cNvSpPr txBox="1"/>
          <p:nvPr/>
        </p:nvSpPr>
        <p:spPr>
          <a:xfrm>
            <a:off x="61722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order 3 name"/>
          <p:cNvSpPr txBox="1"/>
          <p:nvPr/>
        </p:nvSpPr>
        <p:spPr>
          <a:xfrm>
            <a:off x="667512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</a:t>
            </a:r>
            <a:endParaRPr lang="en-US" sz="1600" dirty="0"/>
          </a:p>
        </p:txBody>
      </p:sp>
      <p:sp>
        <p:nvSpPr>
          <p:cNvPr id="18" name="order 3 body"/>
          <p:cNvSpPr txBox="1"/>
          <p:nvPr/>
        </p:nvSpPr>
        <p:spPr>
          <a:xfrm>
            <a:off x="6172200" y="1828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or bid padded 2 percent (PRICE_PROTECTION)</a:t>
            </a:r>
            <a:endParaRPr lang="en-US" sz="1400" dirty="0"/>
          </a:p>
        </p:txBody>
      </p:sp>
      <p:sp>
        <p:nvSpPr>
          <p:cNvPr id="19" name="order 4 bg"/>
          <p:cNvSpPr/>
          <p:nvPr/>
        </p:nvSpPr>
        <p:spPr>
          <a:xfrm>
            <a:off x="457200" y="297180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order 4 dot"/>
          <p:cNvSpPr/>
          <p:nvPr/>
        </p:nvSpPr>
        <p:spPr>
          <a:xfrm>
            <a:off x="594360" y="31089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order 4 dot label"/>
          <p:cNvSpPr txBox="1"/>
          <p:nvPr/>
        </p:nvSpPr>
        <p:spPr>
          <a:xfrm>
            <a:off x="59436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order 4 name"/>
          <p:cNvSpPr txBox="1"/>
          <p:nvPr/>
        </p:nvSpPr>
        <p:spPr>
          <a:xfrm>
            <a:off x="109728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600" dirty="0"/>
          </a:p>
        </p:txBody>
      </p:sp>
      <p:sp>
        <p:nvSpPr>
          <p:cNvPr id="23" name="order 4 body"/>
          <p:cNvSpPr txBox="1"/>
          <p:nvPr/>
        </p:nvSpPr>
        <p:spPr>
          <a:xfrm>
            <a:off x="594360" y="36118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placeOrder with a fresh idempotencyKey</a:t>
            </a:r>
            <a:endParaRPr lang="en-US" sz="1400" dirty="0"/>
          </a:p>
        </p:txBody>
      </p:sp>
      <p:sp>
        <p:nvSpPr>
          <p:cNvPr id="24" name="order 5 bg"/>
          <p:cNvSpPr/>
          <p:nvPr/>
        </p:nvSpPr>
        <p:spPr>
          <a:xfrm>
            <a:off x="3246120" y="297180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order 5 dot"/>
          <p:cNvSpPr/>
          <p:nvPr/>
        </p:nvSpPr>
        <p:spPr>
          <a:xfrm>
            <a:off x="3383280" y="31089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order 5 dot label"/>
          <p:cNvSpPr txBox="1"/>
          <p:nvPr/>
        </p:nvSpPr>
        <p:spPr>
          <a:xfrm>
            <a:off x="338328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order 5 name"/>
          <p:cNvSpPr txBox="1"/>
          <p:nvPr/>
        </p:nvSpPr>
        <p:spPr>
          <a:xfrm>
            <a:off x="388620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</a:t>
            </a:r>
            <a:endParaRPr lang="en-US" sz="1600" dirty="0"/>
          </a:p>
        </p:txBody>
      </p:sp>
      <p:sp>
        <p:nvSpPr>
          <p:cNvPr id="28" name="order 5 body"/>
          <p:cNvSpPr txBox="1"/>
          <p:nvPr/>
        </p:nvSpPr>
        <p:spPr>
          <a:xfrm>
            <a:off x="3383280" y="36118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Reload cash and units, poll notifications now</a:t>
            </a:r>
            <a:endParaRPr lang="en-US" sz="1400" dirty="0"/>
          </a:p>
        </p:txBody>
      </p:sp>
      <p:sp>
        <p:nvSpPr>
          <p:cNvPr id="29" name="order 6 bg"/>
          <p:cNvSpPr/>
          <p:nvPr/>
        </p:nvSpPr>
        <p:spPr>
          <a:xfrm>
            <a:off x="6035040" y="297180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order 6 dot"/>
          <p:cNvSpPr/>
          <p:nvPr/>
        </p:nvSpPr>
        <p:spPr>
          <a:xfrm>
            <a:off x="6172200" y="31089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order 6 dot label"/>
          <p:cNvSpPr txBox="1"/>
          <p:nvPr/>
        </p:nvSpPr>
        <p:spPr>
          <a:xfrm>
            <a:off x="61722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order 6 name"/>
          <p:cNvSpPr txBox="1"/>
          <p:nvPr/>
        </p:nvSpPr>
        <p:spPr>
          <a:xfrm>
            <a:off x="667512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</a:t>
            </a:r>
            <a:endParaRPr lang="en-US" sz="1600" dirty="0"/>
          </a:p>
        </p:txBody>
      </p:sp>
      <p:sp>
        <p:nvSpPr>
          <p:cNvPr id="33" name="order 6 body"/>
          <p:cNvSpPr txBox="1"/>
          <p:nvPr/>
        </p:nvSpPr>
        <p:spPr>
          <a:xfrm>
            <a:off x="6172200" y="36118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notification bumps changes; pages reload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and build: what I verified</a:t>
            </a:r>
            <a:endParaRPr lang="en-US" sz="3200" dirty="0"/>
          </a:p>
        </p:txBody>
      </p:sp>
      <p:sp>
        <p:nvSpPr>
          <p:cNvPr id="4" name="stat 1 bg"/>
          <p:cNvSpPr/>
          <p:nvPr/>
        </p:nvSpPr>
        <p:spPr>
          <a:xfrm>
            <a:off x="457200" y="118872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 1 number"/>
          <p:cNvSpPr txBox="1"/>
          <p:nvPr/>
        </p:nvSpPr>
        <p:spPr>
          <a:xfrm>
            <a:off x="457200" y="12801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488</a:t>
            </a:r>
            <a:endParaRPr lang="en-US" sz="5400" dirty="0"/>
          </a:p>
        </p:txBody>
      </p:sp>
      <p:sp>
        <p:nvSpPr>
          <p:cNvPr id="6" name="stat 1 label"/>
          <p:cNvSpPr txBox="1"/>
          <p:nvPr/>
        </p:nvSpPr>
        <p:spPr>
          <a:xfrm>
            <a:off x="45720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passing</a:t>
            </a:r>
            <a:endParaRPr lang="en-US" sz="1400" dirty="0"/>
          </a:p>
        </p:txBody>
      </p:sp>
      <p:sp>
        <p:nvSpPr>
          <p:cNvPr id="7" name="stat 2 bg"/>
          <p:cNvSpPr/>
          <p:nvPr/>
        </p:nvSpPr>
        <p:spPr>
          <a:xfrm>
            <a:off x="3246120" y="118872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 number"/>
          <p:cNvSpPr txBox="1"/>
          <p:nvPr/>
        </p:nvSpPr>
        <p:spPr>
          <a:xfrm>
            <a:off x="3246120" y="12801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5400" dirty="0"/>
          </a:p>
        </p:txBody>
      </p:sp>
      <p:sp>
        <p:nvSpPr>
          <p:cNvPr id="9" name="stat 2 label"/>
          <p:cNvSpPr txBox="1"/>
          <p:nvPr/>
        </p:nvSpPr>
        <p:spPr>
          <a:xfrm>
            <a:off x="324612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files</a:t>
            </a:r>
            <a:endParaRPr lang="en-US" sz="1400" dirty="0"/>
          </a:p>
        </p:txBody>
      </p:sp>
      <p:sp>
        <p:nvSpPr>
          <p:cNvPr id="10" name="stat 3 bg"/>
          <p:cNvSpPr/>
          <p:nvPr/>
        </p:nvSpPr>
        <p:spPr>
          <a:xfrm>
            <a:off x="6035040" y="118872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t 3 number"/>
          <p:cNvSpPr txBox="1"/>
          <p:nvPr/>
        </p:nvSpPr>
        <p:spPr>
          <a:xfrm>
            <a:off x="6035040" y="12801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808 kB</a:t>
            </a:r>
            <a:endParaRPr lang="en-US" sz="5400" dirty="0"/>
          </a:p>
        </p:txBody>
      </p:sp>
      <p:sp>
        <p:nvSpPr>
          <p:cNvPr id="12" name="stat 3 label"/>
          <p:cNvSpPr txBox="1"/>
          <p:nvPr/>
        </p:nvSpPr>
        <p:spPr>
          <a:xfrm>
            <a:off x="603504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bundle (warn at 850)</a:t>
            </a:r>
            <a:endParaRPr lang="en-US" sz="1400" dirty="0"/>
          </a:p>
        </p:txBody>
      </p:sp>
      <p:sp>
        <p:nvSpPr>
          <p:cNvPr id="13" name="test point 1"/>
          <p:cNvSpPr txBox="1"/>
          <p:nvPr/>
        </p:nvSpPr>
        <p:spPr>
          <a:xfrm>
            <a:off x="457200" y="2926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TestBed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mini Angular app per test</a:t>
            </a:r>
            <a:endParaRPr lang="en-US" sz="1400" dirty="0"/>
          </a:p>
        </p:txBody>
      </p:sp>
      <p:sp>
        <p:nvSpPr>
          <p:cNvPr id="14" name="test point 2"/>
          <p:cNvSpPr txBox="1"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FakeApi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what each URL answers, then flush(); an unregistered request fails the test</a:t>
            </a:r>
            <a:endParaRPr lang="en-US" sz="1400" dirty="0"/>
          </a:p>
        </p:txBody>
      </p:sp>
      <p:sp>
        <p:nvSpPr>
          <p:cNvPr id="15" name="test point 3"/>
          <p:cNvSpPr txBox="1"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timers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vi.useFakeTimers() jumps polling forward</a:t>
            </a:r>
            <a:endParaRPr lang="en-US" sz="1400" dirty="0"/>
          </a:p>
        </p:txBody>
      </p:sp>
      <p:sp>
        <p:nvSpPr>
          <p:cNvPr id="16" name="test point 4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browser, real backend (not run)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built this way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301752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Signals, zoneless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Fine-grained updates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use signals for 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in localStorage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Survive reload and tabs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 by injected JS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in interceptor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place for expiry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Subtle; all refreshes must use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clients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 match contract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Noisy files, needs Java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Polling, not push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socket available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 s latency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design CSS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 template look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4k-line file, dark-mode hacks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issues a reviewer may raise</a:t>
            </a:r>
            <a:endParaRPr lang="en-US" sz="3200" dirty="0"/>
          </a:p>
        </p:txBody>
      </p:sp>
      <p:sp>
        <p:nvSpPr>
          <p:cNvPr id="4" name="issue 1 bg"/>
          <p:cNvSpPr/>
          <p:nvPr/>
        </p:nvSpPr>
        <p:spPr>
          <a:xfrm>
            <a:off x="457200" y="1143000"/>
            <a:ext cx="822960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ssue 1 dot"/>
          <p:cNvSpPr/>
          <p:nvPr/>
        </p:nvSpPr>
        <p:spPr>
          <a:xfrm>
            <a:off x="548640" y="1216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issue 1 dot label"/>
          <p:cNvSpPr txBox="1"/>
          <p:nvPr/>
        </p:nvSpPr>
        <p:spPr>
          <a:xfrm>
            <a:off x="548640" y="1216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issue 1 name"/>
          <p:cNvSpPr txBox="1"/>
          <p:nvPr/>
        </p:nvSpPr>
        <p:spPr>
          <a:xfrm>
            <a:off x="1051560" y="114300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Old URLs in links</a:t>
            </a:r>
            <a:endParaRPr lang="en-US" sz="1400" dirty="0"/>
          </a:p>
        </p:txBody>
      </p:sp>
      <p:sp>
        <p:nvSpPr>
          <p:cNvPr id="8" name="issue 1 text"/>
          <p:cNvSpPr txBox="1"/>
          <p:nvPr/>
        </p:nvSpPr>
        <p:spPr>
          <a:xfrm>
            <a:off x="3108960" y="1143000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use /dashboard, not /app/dashboard; sidebar highlight likely broken</a:t>
            </a:r>
            <a:endParaRPr lang="en-US" sz="1400" dirty="0"/>
          </a:p>
        </p:txBody>
      </p:sp>
      <p:sp>
        <p:nvSpPr>
          <p:cNvPr id="9" name="issue 2 bg"/>
          <p:cNvSpPr/>
          <p:nvPr/>
        </p:nvSpPr>
        <p:spPr>
          <a:xfrm>
            <a:off x="457200" y="1728216"/>
            <a:ext cx="822960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ssue 2 dot"/>
          <p:cNvSpPr/>
          <p:nvPr/>
        </p:nvSpPr>
        <p:spPr>
          <a:xfrm>
            <a:off x="548640" y="180136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issue 2 dot label"/>
          <p:cNvSpPr txBox="1"/>
          <p:nvPr/>
        </p:nvSpPr>
        <p:spPr>
          <a:xfrm>
            <a:off x="548640" y="1801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issue 2 name"/>
          <p:cNvSpPr txBox="1"/>
          <p:nvPr/>
        </p:nvSpPr>
        <p:spPr>
          <a:xfrm>
            <a:off x="1051560" y="172821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page refresh</a:t>
            </a:r>
            <a:endParaRPr lang="en-US" sz="1400" dirty="0"/>
          </a:p>
        </p:txBody>
      </p:sp>
      <p:sp>
        <p:nvSpPr>
          <p:cNvPr id="13" name="issue 2 text"/>
          <p:cNvSpPr txBox="1"/>
          <p:nvPr/>
        </p:nvSpPr>
        <p:spPr>
          <a:xfrm>
            <a:off x="3108960" y="1728216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auth.refresh directly, bypassing the single-flight renewal</a:t>
            </a:r>
            <a:endParaRPr lang="en-US" sz="1400" dirty="0"/>
          </a:p>
        </p:txBody>
      </p:sp>
      <p:sp>
        <p:nvSpPr>
          <p:cNvPr id="14" name="issue 3 bg"/>
          <p:cNvSpPr/>
          <p:nvPr/>
        </p:nvSpPr>
        <p:spPr>
          <a:xfrm>
            <a:off x="457200" y="2313432"/>
            <a:ext cx="822960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ssue 3 dot"/>
          <p:cNvSpPr/>
          <p:nvPr/>
        </p:nvSpPr>
        <p:spPr>
          <a:xfrm>
            <a:off x="548640" y="23865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issue 3 dot label"/>
          <p:cNvSpPr txBox="1"/>
          <p:nvPr/>
        </p:nvSpPr>
        <p:spPr>
          <a:xfrm>
            <a:off x="548640" y="2386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issue 3 name"/>
          <p:cNvSpPr txBox="1"/>
          <p:nvPr/>
        </p:nvSpPr>
        <p:spPr>
          <a:xfrm>
            <a:off x="1051560" y="231343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Idempotency keys</a:t>
            </a:r>
            <a:endParaRPr lang="en-US" sz="1400" dirty="0"/>
          </a:p>
        </p:txBody>
      </p:sp>
      <p:sp>
        <p:nvSpPr>
          <p:cNvPr id="18" name="issue 3 text"/>
          <p:cNvSpPr txBox="1"/>
          <p:nvPr/>
        </p:nvSpPr>
        <p:spPr>
          <a:xfrm>
            <a:off x="3108960" y="2313432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UUID per click, so a retry can duplicate an order or transfer</a:t>
            </a:r>
            <a:endParaRPr lang="en-US" sz="1400" dirty="0"/>
          </a:p>
        </p:txBody>
      </p:sp>
      <p:sp>
        <p:nvSpPr>
          <p:cNvPr id="19" name="issue 4 bg"/>
          <p:cNvSpPr/>
          <p:nvPr/>
        </p:nvSpPr>
        <p:spPr>
          <a:xfrm>
            <a:off x="457200" y="2898648"/>
            <a:ext cx="822960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ssue 4 dot"/>
          <p:cNvSpPr/>
          <p:nvPr/>
        </p:nvSpPr>
        <p:spPr>
          <a:xfrm>
            <a:off x="548640" y="29718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issue 4 dot label"/>
          <p:cNvSpPr txBox="1"/>
          <p:nvPr/>
        </p:nvSpPr>
        <p:spPr>
          <a:xfrm>
            <a:off x="54864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issue 4 name"/>
          <p:cNvSpPr txBox="1"/>
          <p:nvPr/>
        </p:nvSpPr>
        <p:spPr>
          <a:xfrm>
            <a:off x="1051560" y="289864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 logging</a:t>
            </a:r>
            <a:endParaRPr lang="en-US" sz="1400" dirty="0"/>
          </a:p>
        </p:txBody>
      </p:sp>
      <p:sp>
        <p:nvSpPr>
          <p:cNvPr id="23" name="issue 4 text"/>
          <p:cNvSpPr txBox="1"/>
          <p:nvPr/>
        </p:nvSpPr>
        <p:spPr>
          <a:xfrm>
            <a:off x="3108960" y="289864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page logs account numbers and transfer data</a:t>
            </a:r>
            <a:endParaRPr lang="en-US" sz="1400" dirty="0"/>
          </a:p>
        </p:txBody>
      </p:sp>
      <p:sp>
        <p:nvSpPr>
          <p:cNvPr id="24" name="issue 5 bg"/>
          <p:cNvSpPr/>
          <p:nvPr/>
        </p:nvSpPr>
        <p:spPr>
          <a:xfrm>
            <a:off x="457200" y="3483864"/>
            <a:ext cx="822960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ssue 5 dot"/>
          <p:cNvSpPr/>
          <p:nvPr/>
        </p:nvSpPr>
        <p:spPr>
          <a:xfrm>
            <a:off x="548640" y="355701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issue 5 dot label"/>
          <p:cNvSpPr txBox="1"/>
          <p:nvPr/>
        </p:nvSpPr>
        <p:spPr>
          <a:xfrm>
            <a:off x="54864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issue 5 name"/>
          <p:cNvSpPr txBox="1"/>
          <p:nvPr/>
        </p:nvSpPr>
        <p:spPr>
          <a:xfrm>
            <a:off x="1051560" y="348386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codes</a:t>
            </a:r>
            <a:endParaRPr lang="en-US" sz="1400" dirty="0"/>
          </a:p>
        </p:txBody>
      </p:sp>
      <p:sp>
        <p:nvSpPr>
          <p:cNvPr id="28" name="issue 5 text"/>
          <p:cNvSpPr txBox="1"/>
          <p:nvPr/>
        </p:nvSpPr>
        <p:spPr>
          <a:xfrm>
            <a:off x="3108960" y="34838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FUND-402 and ACC-402 are not in the contract; ACC-409 not in the catalog</a:t>
            </a:r>
            <a:endParaRPr lang="en-US" sz="1400" dirty="0"/>
          </a:p>
        </p:txBody>
      </p:sp>
      <p:sp>
        <p:nvSpPr>
          <p:cNvPr id="29" name="issue 6 bg"/>
          <p:cNvSpPr/>
          <p:nvPr/>
        </p:nvSpPr>
        <p:spPr>
          <a:xfrm>
            <a:off x="457200" y="4069080"/>
            <a:ext cx="822960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ssue 6 dot"/>
          <p:cNvSpPr/>
          <p:nvPr/>
        </p:nvSpPr>
        <p:spPr>
          <a:xfrm>
            <a:off x="548640" y="414223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issue 6 dot label"/>
          <p:cNvSpPr txBox="1"/>
          <p:nvPr/>
        </p:nvSpPr>
        <p:spPr>
          <a:xfrm>
            <a:off x="548640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issue 6 name"/>
          <p:cNvSpPr txBox="1"/>
          <p:nvPr/>
        </p:nvSpPr>
        <p:spPr>
          <a:xfrm>
            <a:off x="1051560" y="406908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Blotter</a:t>
            </a:r>
            <a:endParaRPr lang="en-US" sz="1400" dirty="0"/>
          </a:p>
        </p:txBody>
      </p:sp>
      <p:sp>
        <p:nvSpPr>
          <p:cNvPr id="33" name="issue 6 text"/>
          <p:cNvSpPr txBox="1"/>
          <p:nvPr/>
        </p:nvSpPr>
        <p:spPr>
          <a:xfrm>
            <a:off x="3108960" y="4069080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Date-only sorting, hard-coded rupee sign, polling stops early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Likely questions, short answers</a:t>
            </a:r>
            <a:endParaRPr lang="en-US" sz="3200" dirty="0"/>
          </a:p>
        </p:txBody>
      </p:sp>
      <p:sp>
        <p:nvSpPr>
          <p:cNvPr id="4" name="qa 1 bg"/>
          <p:cNvSpPr/>
          <p:nvPr/>
        </p:nvSpPr>
        <p:spPr>
          <a:xfrm>
            <a:off x="457200" y="1188720"/>
            <a:ext cx="40233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qa 1 head"/>
          <p:cNvSpPr txBox="1"/>
          <p:nvPr/>
        </p:nvSpPr>
        <p:spPr>
          <a:xfrm>
            <a:off x="6400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signals?</a:t>
            </a:r>
            <a:endParaRPr lang="en-US" sz="1600" dirty="0"/>
          </a:p>
        </p:txBody>
      </p:sp>
      <p:sp>
        <p:nvSpPr>
          <p:cNvPr id="6" name="qa 1 body"/>
          <p:cNvSpPr txBox="1"/>
          <p:nvPr/>
        </p:nvSpPr>
        <p:spPr>
          <a:xfrm>
            <a:off x="640080" y="16916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zoneless; signals tell Angular what to redraw, and computed keeps derived values correct.</a:t>
            </a:r>
            <a:endParaRPr lang="en-US" sz="1400" dirty="0"/>
          </a:p>
        </p:txBody>
      </p:sp>
      <p:sp>
        <p:nvSpPr>
          <p:cNvPr id="7" name="qa 2 bg"/>
          <p:cNvSpPr/>
          <p:nvPr/>
        </p:nvSpPr>
        <p:spPr>
          <a:xfrm>
            <a:off x="4663440" y="1188720"/>
            <a:ext cx="40233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qa 2 head"/>
          <p:cNvSpPr txBox="1"/>
          <p:nvPr/>
        </p:nvSpPr>
        <p:spPr>
          <a:xfrm>
            <a:off x="48463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the guard protect?</a:t>
            </a:r>
            <a:endParaRPr lang="en-US" sz="1600" dirty="0"/>
          </a:p>
        </p:txBody>
      </p:sp>
      <p:sp>
        <p:nvSpPr>
          <p:cNvPr id="9" name="qa 2 body"/>
          <p:cNvSpPr txBox="1"/>
          <p:nvPr/>
        </p:nvSpPr>
        <p:spPr>
          <a:xfrm>
            <a:off x="4846320" y="16916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security-wise. It avoids broken pages; the API enforces auth on every call.</a:t>
            </a:r>
            <a:endParaRPr lang="en-US" sz="1400" dirty="0"/>
          </a:p>
        </p:txBody>
      </p:sp>
      <p:sp>
        <p:nvSpPr>
          <p:cNvPr id="10" name="qa 3 bg"/>
          <p:cNvSpPr/>
          <p:nvPr/>
        </p:nvSpPr>
        <p:spPr>
          <a:xfrm>
            <a:off x="457200" y="2971800"/>
            <a:ext cx="40233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qa 3 head"/>
          <p:cNvSpPr txBox="1"/>
          <p:nvPr/>
        </p:nvSpPr>
        <p:spPr>
          <a:xfrm>
            <a:off x="640080" y="3081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requests 401 at once?</a:t>
            </a:r>
            <a:endParaRPr lang="en-US" sz="1600" dirty="0"/>
          </a:p>
        </p:txBody>
      </p:sp>
      <p:sp>
        <p:nvSpPr>
          <p:cNvPr id="12" name="qa 3 body"/>
          <p:cNvSpPr txBox="1"/>
          <p:nvPr/>
        </p:nvSpPr>
        <p:spPr>
          <a:xfrm>
            <a:off x="640080" y="347472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refresh call; both retry. Avoids rotating-token theft detection.</a:t>
            </a:r>
            <a:endParaRPr lang="en-US" sz="1400" dirty="0"/>
          </a:p>
        </p:txBody>
      </p:sp>
      <p:sp>
        <p:nvSpPr>
          <p:cNvPr id="13" name="qa 4 bg"/>
          <p:cNvSpPr/>
          <p:nvPr/>
        </p:nvSpPr>
        <p:spPr>
          <a:xfrm>
            <a:off x="4663440" y="2971800"/>
            <a:ext cx="40233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qa 4 head"/>
          <p:cNvSpPr txBox="1"/>
          <p:nvPr/>
        </p:nvSpPr>
        <p:spPr>
          <a:xfrm>
            <a:off x="4846320" y="3081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the UI learn a fill?</a:t>
            </a:r>
            <a:endParaRPr lang="en-US" sz="1600" dirty="0"/>
          </a:p>
        </p:txBody>
      </p:sp>
      <p:sp>
        <p:nvSpPr>
          <p:cNvPr id="15" name="qa 4 body"/>
          <p:cNvSpPr txBox="1"/>
          <p:nvPr/>
        </p:nvSpPr>
        <p:spPr>
          <a:xfrm>
            <a:off x="4846320" y="347472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polling every 10 s bumps a counter; pages with effects on it reload.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RV Angular Guide">
  <a:themeElements>
    <a:clrScheme name="YRV Angular Guide">
      <a:dk1>
        <a:srgbClr val="1B1B2F"/>
      </a:dk1>
      <a:lt1>
        <a:srgbClr val="FFFFFF"/>
      </a:lt1>
      <a:dk2>
        <a:srgbClr val="2B2D5B"/>
      </a:dk2>
      <a:lt2>
        <a:srgbClr val="F1F2F8"/>
      </a:lt2>
      <a:accent1>
        <a:srgbClr val="D7263D"/>
      </a:accent1>
      <a:accent2>
        <a:srgbClr val="4F5BD5"/>
      </a:accent2>
      <a:accent3>
        <a:srgbClr val="1B998B"/>
      </a:accent3>
      <a:accent4>
        <a:srgbClr val="E08E2B"/>
      </a:accent4>
      <a:accent5>
        <a:srgbClr val="6C757D"/>
      </a:accent5>
      <a:accent6>
        <a:srgbClr val="2E294E"/>
      </a:accent6>
      <a:hlink>
        <a:srgbClr val="4F5BD5"/>
      </a:hlink>
      <a:folHlink>
        <a:srgbClr val="6C757D"/>
      </a:folHlink>
    </a:clrScheme>
    <a:fontScheme name="YRV Angular Guid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From Zero - YRV Trading UI</dc:title>
  <dc:subject>PptxGenJS Presentation</dc:subject>
  <dc:creator>PptxGenJS</dc:creator>
  <cp:lastModifiedBy>PptxGenJS</cp:lastModifiedBy>
  <cp:revision>1</cp:revision>
  <dcterms:created xsi:type="dcterms:W3CDTF">2026-10-05T05:40:32Z</dcterms:created>
  <dcterms:modified xsi:type="dcterms:W3CDTF">2026-10-05T05:40:32Z</dcterms:modified>
</cp:coreProperties>
</file>