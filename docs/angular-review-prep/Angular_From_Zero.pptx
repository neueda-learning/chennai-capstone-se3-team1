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every Angular concept the project relies on, assuming no prior Angular knowledge. The companion file ANGULAR_FROM_ZERO.md has the long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understand these five, you understand the project. Component = piece of screen. Signal = variable that tells the screen when it changes. Service/store = shared object. Router = URL to page. HttpClient = backend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index.html contains the tui-root tag. main.ts calls bootstrapApplication, which means start the app, not the Bootstrap CSS. appConfig lists the providers. App's template is just a router-outlet. The router picks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is app-wide plumbing; features is one folder per screen; generated is machine-written API code that must not be edited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is three things working together: a class (state and logic), a template (HTML that shows the state), and styles (CSS scoped to this component). The @Component decorator is metadata that tells Angular this class is a component. selector is the custom tag name you could write in another template, for example &lt;tui-login-page&gt;; here routes load it instead, so nobody types the tag. imports lists every other component, directive or pipe the template uses; this is what standalone means, and there are no NgModules in this project. templateUrl and styleUrl point to the HTML and CSS files; small components such as ToastContainer put the template inline. Class members marked protected can be used from the template but not by outside code; private ones cannot be used from the template at all. Angular creates the class once per use, calling the constructor in an injection context, so inject() and effect() work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holds state and handlers. The template displays state and calls handlers. Angular connects them: reading a signal in the template subscribes that spot in the page to the signal; calling a handler from an event can change a signal; only bindings that read a changed signal are redrawn. Snippets are simplified from login-page.ts and login-page.html.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Signals are called like functions in templates. @for needs track so Angular can reuse DOM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is writable state. computed is derived and cached. effect is a side effect that re-runs when what it read changes. untracked stops an effect from depending on what the work inside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classes need to agree on one fact: is the user signed in, and what is the token? If each class made its own SessionStore, they would disagree. Dependency injection lets each class ask Angular for the shared object instead of creating or passing it. Analogy: one shared recipe book in a kitchen; you ask the waiter for it rather than buying your own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one declares the class may be shared: Injectable with providedIn root means one instance for the whole app. Line two asks for it with inject. Everyone who writes line two gets the same object. At sign-in this means the guard, interceptor and shell all react to the same session without anything being passed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store is an ordinary injectable class that holds state in signals and exposes methods to change it. In SessionStore the signal holding the token is private; everyone else reads through isSignedIn and accessToken, and changes things only through signIn and signOut. That keeps the rules (saving to localStorage, decoding accountId from the JWT)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inject(SessionStore) works because SessionStore is a class. The store also needs the browser's localStorage, which is not a class you wrote, so an InjectionToken is a named slot for it. In production the slot holds the real localStorage; in tests it can hold a fake. NOTIFICATION_POLL_MS and THEME_STORAGE use the same trick. inject only works while Angular is running your code: in a constructor, a field initialiser, or at the top of a guard or interceptor, not later inside a callback. That is why bearer.interceptor.ts calls inject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 has its own router-outlet; pages render inside it so the sidebar stays. loadComponent with import() means the page's code downloads on first visit. Legacy URLs redirect to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 is a usability control, not security; the bundle is public and the API enforces access. sanitiseReturnUrl prevents an open redirect.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clients provide typed methods. HttpClient sends the request. The interceptor attaches the token and handles 401s. Error codes are mapped by ErrorCatalog; branch on errorCode, not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tokens last 15 minutes. On a 401 the interceptor renews once and retries once. Refresh tokens rotate; presenting a spent one is treated as theft and revokes all sessions, so concurrent renewals must share one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Observable does nothing until subscribed. The polling pattern appears four times: quotes 30s, dashboard 60s, notifications 10s, blotter 2s. Always ask who unsubscribes.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are market orders; the API still requires a price so a protective limit of plus or minus 2 percent is sent. Pages learn a fill happened because the notification poll bumps a changes counter that effects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npm ci, ng build and ng test myself. Playwright e2e needs the backend so it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design decision has a reason in the code comments and a trade-off a reviewer may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from reading the code; none block the build or tests. Item 1 was caused by the restructure.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these four. The full table is in section 18 of the markdown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circle large"/>
          <p:cNvSpPr/>
          <p:nvPr/>
        </p:nvSpPr>
        <p:spPr>
          <a:xfrm>
            <a:off x="6035040" y="-1097280"/>
            <a:ext cx="4572000" cy="4572000"/>
          </a:xfrm>
          <a:prstGeom prst="ellipse">
            <a:avLst/>
          </a:prstGeom>
          <a:solidFill>
            <a:schemeClr val="accent6"/>
          </a:solidFill>
          <a:ln w="12700">
            <a:solidFill>
              <a:schemeClr val="accent6"/>
            </a:solidFill>
            <a:prstDash val="solid"/>
          </a:ln>
        </p:spPr>
      </p:sp>
      <p:sp>
        <p:nvSpPr>
          <p:cNvPr id="3" name="motif circle small"/>
          <p:cNvSpPr/>
          <p:nvPr/>
        </p:nvSpPr>
        <p:spPr>
          <a:xfrm>
            <a:off x="7589520" y="3108960"/>
            <a:ext cx="2377440" cy="2377440"/>
          </a:xfrm>
          <a:prstGeom prst="ellipse">
            <a:avLst/>
          </a:prstGeom>
          <a:solidFill>
            <a:schemeClr val="accent1"/>
          </a:solidFill>
          <a:ln w="12700">
            <a:solidFill>
              <a:schemeClr val="accent1"/>
            </a:solidFill>
            <a:prstDash val="solid"/>
          </a:ln>
        </p:spPr>
      </p:sp>
      <p:sp>
        <p:nvSpPr>
          <p:cNvPr id="4" name="deck title"/>
          <p:cNvSpPr txBox="1"/>
          <p:nvPr/>
        </p:nvSpPr>
        <p:spPr>
          <a:xfrm>
            <a:off x="548640" y="1188720"/>
            <a:ext cx="6858000" cy="91440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Angular, from zero</a:t>
            </a:r>
            <a:endParaRPr lang="en-US" sz="4800" dirty="0"/>
          </a:p>
        </p:txBody>
      </p:sp>
      <p:sp>
        <p:nvSpPr>
          <p:cNvPr id="5" name="deck subtitle"/>
          <p:cNvSpPr txBox="1"/>
          <p:nvPr/>
        </p:nvSpPr>
        <p:spPr>
          <a:xfrm>
            <a:off x="548640" y="2194560"/>
            <a:ext cx="6858000" cy="457200"/>
          </a:xfrm>
          <a:prstGeom prst="rect">
            <a:avLst/>
          </a:prstGeom>
          <a:noFill/>
          <a:ln/>
        </p:spPr>
        <p:txBody>
          <a:bodyPr wrap="square" lIns="0" tIns="0" rIns="0" bIns="0" rtlCol="0" anchor="ctr"/>
          <a:lstStyle/>
          <a:p>
            <a:pPr indent="0" marL="0">
              <a:buNone/>
            </a:pPr>
            <a:r>
              <a:rPr lang="en-US" sz="2200" dirty="0">
                <a:solidFill>
                  <a:schemeClr val="bg2"/>
                </a:solidFill>
                <a:latin typeface="Calibri" pitchFamily="34" charset="0"/>
                <a:ea typeface="Calibri" pitchFamily="34" charset="-122"/>
                <a:cs typeface="Calibri" pitchFamily="34" charset="-120"/>
              </a:rPr>
              <a:t>Using the YRV Trading UI as the textbook</a:t>
            </a:r>
            <a:endParaRPr lang="en-US" sz="2200" dirty="0"/>
          </a:p>
        </p:txBody>
      </p:sp>
      <p:sp>
        <p:nvSpPr>
          <p:cNvPr id="6" name="deck footer"/>
          <p:cNvSpPr txBox="1"/>
          <p:nvPr/>
        </p:nvSpPr>
        <p:spPr>
          <a:xfrm>
            <a:off x="548640" y="4206240"/>
            <a:ext cx="6400800" cy="36576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Code review prep: Application/Frontend/frontend-app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Five ideas run the whole app</a:t>
            </a:r>
            <a:endParaRPr lang="en-US" sz="3200" dirty="0"/>
          </a:p>
        </p:txBody>
      </p:sp>
      <p:sp>
        <p:nvSpPr>
          <p:cNvPr id="4" name="idea 1 bg"/>
          <p:cNvSpPr/>
          <p:nvPr/>
        </p:nvSpPr>
        <p:spPr>
          <a:xfrm>
            <a:off x="457200" y="1143000"/>
            <a:ext cx="8229600" cy="548640"/>
          </a:xfrm>
          <a:prstGeom prst="roundRect">
            <a:avLst>
              <a:gd name="adj" fmla="val 13333"/>
            </a:avLst>
          </a:prstGeom>
          <a:solidFill>
            <a:schemeClr val="bg2"/>
          </a:solidFill>
          <a:ln w="12700">
            <a:solidFill>
              <a:schemeClr val="bg2"/>
            </a:solidFill>
            <a:prstDash val="solid"/>
          </a:ln>
        </p:spPr>
      </p:sp>
      <p:sp>
        <p:nvSpPr>
          <p:cNvPr id="5" name="idea 1 dot"/>
          <p:cNvSpPr/>
          <p:nvPr/>
        </p:nvSpPr>
        <p:spPr>
          <a:xfrm>
            <a:off x="594360" y="1234440"/>
            <a:ext cx="365760" cy="365760"/>
          </a:xfrm>
          <a:prstGeom prst="ellipse">
            <a:avLst/>
          </a:prstGeom>
          <a:solidFill>
            <a:schemeClr val="accent1"/>
          </a:solidFill>
          <a:ln w="12700">
            <a:solidFill>
              <a:schemeClr val="accent1"/>
            </a:solidFill>
            <a:prstDash val="solid"/>
          </a:ln>
        </p:spPr>
      </p:sp>
      <p:sp>
        <p:nvSpPr>
          <p:cNvPr id="6" name="idea 1 dot label"/>
          <p:cNvSpPr txBox="1"/>
          <p:nvPr/>
        </p:nvSpPr>
        <p:spPr>
          <a:xfrm>
            <a:off x="594360" y="12344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idea 1 name"/>
          <p:cNvSpPr txBox="1"/>
          <p:nvPr/>
        </p:nvSpPr>
        <p:spPr>
          <a:xfrm>
            <a:off x="1143000" y="1143000"/>
            <a:ext cx="1737360"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Component</a:t>
            </a:r>
            <a:endParaRPr lang="en-US" sz="1600" dirty="0"/>
          </a:p>
        </p:txBody>
      </p:sp>
      <p:sp>
        <p:nvSpPr>
          <p:cNvPr id="8" name="idea 1 meaning"/>
          <p:cNvSpPr txBox="1"/>
          <p:nvPr/>
        </p:nvSpPr>
        <p:spPr>
          <a:xfrm>
            <a:off x="2926080" y="1143000"/>
            <a:ext cx="338328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 piece of screen: a TypeScript class + an HTML template + CSS</a:t>
            </a:r>
            <a:endParaRPr lang="en-US" sz="1400" dirty="0"/>
          </a:p>
        </p:txBody>
      </p:sp>
      <p:sp>
        <p:nvSpPr>
          <p:cNvPr id="9" name="idea 1 where"/>
          <p:cNvSpPr txBox="1"/>
          <p:nvPr/>
        </p:nvSpPr>
        <p:spPr>
          <a:xfrm>
            <a:off x="6400800" y="1143000"/>
            <a:ext cx="2194560" cy="54864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LoginPage, DashboardPage, Shell</a:t>
            </a:r>
            <a:endParaRPr lang="en-US" sz="1100" dirty="0"/>
          </a:p>
        </p:txBody>
      </p:sp>
      <p:sp>
        <p:nvSpPr>
          <p:cNvPr id="10" name="idea 2 bg"/>
          <p:cNvSpPr/>
          <p:nvPr/>
        </p:nvSpPr>
        <p:spPr>
          <a:xfrm>
            <a:off x="457200" y="1783080"/>
            <a:ext cx="8229600" cy="548640"/>
          </a:xfrm>
          <a:prstGeom prst="roundRect">
            <a:avLst>
              <a:gd name="adj" fmla="val 13333"/>
            </a:avLst>
          </a:prstGeom>
          <a:solidFill>
            <a:schemeClr val="bg2"/>
          </a:solidFill>
          <a:ln w="12700">
            <a:solidFill>
              <a:schemeClr val="bg2"/>
            </a:solidFill>
            <a:prstDash val="solid"/>
          </a:ln>
        </p:spPr>
      </p:sp>
      <p:sp>
        <p:nvSpPr>
          <p:cNvPr id="11" name="idea 2 dot"/>
          <p:cNvSpPr/>
          <p:nvPr/>
        </p:nvSpPr>
        <p:spPr>
          <a:xfrm>
            <a:off x="594360" y="1874520"/>
            <a:ext cx="365760" cy="365760"/>
          </a:xfrm>
          <a:prstGeom prst="ellipse">
            <a:avLst/>
          </a:prstGeom>
          <a:solidFill>
            <a:schemeClr val="accent2"/>
          </a:solidFill>
          <a:ln w="12700">
            <a:solidFill>
              <a:schemeClr val="accent2"/>
            </a:solidFill>
            <a:prstDash val="solid"/>
          </a:ln>
        </p:spPr>
      </p:sp>
      <p:sp>
        <p:nvSpPr>
          <p:cNvPr id="12" name="idea 2 dot label"/>
          <p:cNvSpPr txBox="1"/>
          <p:nvPr/>
        </p:nvSpPr>
        <p:spPr>
          <a:xfrm>
            <a:off x="594360" y="18745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3" name="idea 2 name"/>
          <p:cNvSpPr txBox="1"/>
          <p:nvPr/>
        </p:nvSpPr>
        <p:spPr>
          <a:xfrm>
            <a:off x="1143000" y="1783080"/>
            <a:ext cx="1737360"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Signal</a:t>
            </a:r>
            <a:endParaRPr lang="en-US" sz="1600" dirty="0"/>
          </a:p>
        </p:txBody>
      </p:sp>
      <p:sp>
        <p:nvSpPr>
          <p:cNvPr id="14" name="idea 2 meaning"/>
          <p:cNvSpPr txBox="1"/>
          <p:nvPr/>
        </p:nvSpPr>
        <p:spPr>
          <a:xfrm>
            <a:off x="2926080" y="1783080"/>
            <a:ext cx="338328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 variable that tells the screen when it changes</a:t>
            </a:r>
            <a:endParaRPr lang="en-US" sz="1400" dirty="0"/>
          </a:p>
        </p:txBody>
      </p:sp>
      <p:sp>
        <p:nvSpPr>
          <p:cNvPr id="15" name="idea 2 where"/>
          <p:cNvSpPr txBox="1"/>
          <p:nvPr/>
        </p:nvSpPr>
        <p:spPr>
          <a:xfrm>
            <a:off x="6400800" y="1783080"/>
            <a:ext cx="2194560" cy="54864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signal(''), computed(...)</a:t>
            </a:r>
            <a:endParaRPr lang="en-US" sz="1100" dirty="0"/>
          </a:p>
        </p:txBody>
      </p:sp>
      <p:sp>
        <p:nvSpPr>
          <p:cNvPr id="16" name="idea 3 bg"/>
          <p:cNvSpPr/>
          <p:nvPr/>
        </p:nvSpPr>
        <p:spPr>
          <a:xfrm>
            <a:off x="457200" y="2423160"/>
            <a:ext cx="8229600" cy="548640"/>
          </a:xfrm>
          <a:prstGeom prst="roundRect">
            <a:avLst>
              <a:gd name="adj" fmla="val 13333"/>
            </a:avLst>
          </a:prstGeom>
          <a:solidFill>
            <a:schemeClr val="bg2"/>
          </a:solidFill>
          <a:ln w="12700">
            <a:solidFill>
              <a:schemeClr val="bg2"/>
            </a:solidFill>
            <a:prstDash val="solid"/>
          </a:ln>
        </p:spPr>
      </p:sp>
      <p:sp>
        <p:nvSpPr>
          <p:cNvPr id="17" name="idea 3 dot"/>
          <p:cNvSpPr/>
          <p:nvPr/>
        </p:nvSpPr>
        <p:spPr>
          <a:xfrm>
            <a:off x="594360" y="2514600"/>
            <a:ext cx="365760" cy="365760"/>
          </a:xfrm>
          <a:prstGeom prst="ellipse">
            <a:avLst/>
          </a:prstGeom>
          <a:solidFill>
            <a:schemeClr val="accent1"/>
          </a:solidFill>
          <a:ln w="12700">
            <a:solidFill>
              <a:schemeClr val="accent1"/>
            </a:solidFill>
            <a:prstDash val="solid"/>
          </a:ln>
        </p:spPr>
      </p:sp>
      <p:sp>
        <p:nvSpPr>
          <p:cNvPr id="18" name="idea 3 dot label"/>
          <p:cNvSpPr txBox="1"/>
          <p:nvPr/>
        </p:nvSpPr>
        <p:spPr>
          <a:xfrm>
            <a:off x="594360" y="2514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9" name="idea 3 name"/>
          <p:cNvSpPr txBox="1"/>
          <p:nvPr/>
        </p:nvSpPr>
        <p:spPr>
          <a:xfrm>
            <a:off x="1143000" y="2423160"/>
            <a:ext cx="1737360"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Service / store</a:t>
            </a:r>
            <a:endParaRPr lang="en-US" sz="1600" dirty="0"/>
          </a:p>
        </p:txBody>
      </p:sp>
      <p:sp>
        <p:nvSpPr>
          <p:cNvPr id="20" name="idea 3 meaning"/>
          <p:cNvSpPr txBox="1"/>
          <p:nvPr/>
        </p:nvSpPr>
        <p:spPr>
          <a:xfrm>
            <a:off x="2926080" y="2423160"/>
            <a:ext cx="338328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 class created once and shared by everyone who asks</a:t>
            </a:r>
            <a:endParaRPr lang="en-US" sz="1400" dirty="0"/>
          </a:p>
        </p:txBody>
      </p:sp>
      <p:sp>
        <p:nvSpPr>
          <p:cNvPr id="21" name="idea 3 where"/>
          <p:cNvSpPr txBox="1"/>
          <p:nvPr/>
        </p:nvSpPr>
        <p:spPr>
          <a:xfrm>
            <a:off x="6400800" y="2423160"/>
            <a:ext cx="2194560" cy="54864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SessionStore, NotificationStore</a:t>
            </a:r>
            <a:endParaRPr lang="en-US" sz="1100" dirty="0"/>
          </a:p>
        </p:txBody>
      </p:sp>
      <p:sp>
        <p:nvSpPr>
          <p:cNvPr id="22" name="idea 4 bg"/>
          <p:cNvSpPr/>
          <p:nvPr/>
        </p:nvSpPr>
        <p:spPr>
          <a:xfrm>
            <a:off x="457200" y="3063240"/>
            <a:ext cx="8229600" cy="548640"/>
          </a:xfrm>
          <a:prstGeom prst="roundRect">
            <a:avLst>
              <a:gd name="adj" fmla="val 13333"/>
            </a:avLst>
          </a:prstGeom>
          <a:solidFill>
            <a:schemeClr val="bg2"/>
          </a:solidFill>
          <a:ln w="12700">
            <a:solidFill>
              <a:schemeClr val="bg2"/>
            </a:solidFill>
            <a:prstDash val="solid"/>
          </a:ln>
        </p:spPr>
      </p:sp>
      <p:sp>
        <p:nvSpPr>
          <p:cNvPr id="23" name="idea 4 dot"/>
          <p:cNvSpPr/>
          <p:nvPr/>
        </p:nvSpPr>
        <p:spPr>
          <a:xfrm>
            <a:off x="594360" y="3154680"/>
            <a:ext cx="365760" cy="365760"/>
          </a:xfrm>
          <a:prstGeom prst="ellipse">
            <a:avLst/>
          </a:prstGeom>
          <a:solidFill>
            <a:schemeClr val="accent2"/>
          </a:solidFill>
          <a:ln w="12700">
            <a:solidFill>
              <a:schemeClr val="accent2"/>
            </a:solidFill>
            <a:prstDash val="solid"/>
          </a:ln>
        </p:spPr>
      </p:sp>
      <p:sp>
        <p:nvSpPr>
          <p:cNvPr id="24" name="idea 4 dot label"/>
          <p:cNvSpPr txBox="1"/>
          <p:nvPr/>
        </p:nvSpPr>
        <p:spPr>
          <a:xfrm>
            <a:off x="594360" y="31546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5" name="idea 4 name"/>
          <p:cNvSpPr txBox="1"/>
          <p:nvPr/>
        </p:nvSpPr>
        <p:spPr>
          <a:xfrm>
            <a:off x="1143000" y="3063240"/>
            <a:ext cx="1737360"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Router</a:t>
            </a:r>
            <a:endParaRPr lang="en-US" sz="1600" dirty="0"/>
          </a:p>
        </p:txBody>
      </p:sp>
      <p:sp>
        <p:nvSpPr>
          <p:cNvPr id="26" name="idea 4 meaning"/>
          <p:cNvSpPr txBox="1"/>
          <p:nvPr/>
        </p:nvSpPr>
        <p:spPr>
          <a:xfrm>
            <a:off x="2926080" y="3063240"/>
            <a:ext cx="338328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Maps a URL to a page and decides who may enter</a:t>
            </a:r>
            <a:endParaRPr lang="en-US" sz="1400" dirty="0"/>
          </a:p>
        </p:txBody>
      </p:sp>
      <p:sp>
        <p:nvSpPr>
          <p:cNvPr id="27" name="idea 4 where"/>
          <p:cNvSpPr txBox="1"/>
          <p:nvPr/>
        </p:nvSpPr>
        <p:spPr>
          <a:xfrm>
            <a:off x="6400800" y="3063240"/>
            <a:ext cx="2194560" cy="54864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app.routes.ts, auth.guard.ts</a:t>
            </a:r>
            <a:endParaRPr lang="en-US" sz="1100" dirty="0"/>
          </a:p>
        </p:txBody>
      </p:sp>
      <p:sp>
        <p:nvSpPr>
          <p:cNvPr id="28" name="idea 5 bg"/>
          <p:cNvSpPr/>
          <p:nvPr/>
        </p:nvSpPr>
        <p:spPr>
          <a:xfrm>
            <a:off x="457200" y="3703320"/>
            <a:ext cx="8229600" cy="548640"/>
          </a:xfrm>
          <a:prstGeom prst="roundRect">
            <a:avLst>
              <a:gd name="adj" fmla="val 13333"/>
            </a:avLst>
          </a:prstGeom>
          <a:solidFill>
            <a:schemeClr val="bg2"/>
          </a:solidFill>
          <a:ln w="12700">
            <a:solidFill>
              <a:schemeClr val="bg2"/>
            </a:solidFill>
            <a:prstDash val="solid"/>
          </a:ln>
        </p:spPr>
      </p:sp>
      <p:sp>
        <p:nvSpPr>
          <p:cNvPr id="29" name="idea 5 dot"/>
          <p:cNvSpPr/>
          <p:nvPr/>
        </p:nvSpPr>
        <p:spPr>
          <a:xfrm>
            <a:off x="594360" y="3794760"/>
            <a:ext cx="365760" cy="365760"/>
          </a:xfrm>
          <a:prstGeom prst="ellipse">
            <a:avLst/>
          </a:prstGeom>
          <a:solidFill>
            <a:schemeClr val="accent1"/>
          </a:solidFill>
          <a:ln w="12700">
            <a:solidFill>
              <a:schemeClr val="accent1"/>
            </a:solidFill>
            <a:prstDash val="solid"/>
          </a:ln>
        </p:spPr>
      </p:sp>
      <p:sp>
        <p:nvSpPr>
          <p:cNvPr id="30" name="idea 5 dot label"/>
          <p:cNvSpPr txBox="1"/>
          <p:nvPr/>
        </p:nvSpPr>
        <p:spPr>
          <a:xfrm>
            <a:off x="594360" y="3794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31" name="idea 5 name"/>
          <p:cNvSpPr txBox="1"/>
          <p:nvPr/>
        </p:nvSpPr>
        <p:spPr>
          <a:xfrm>
            <a:off x="1143000" y="3703320"/>
            <a:ext cx="1737360" cy="5486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HttpClient</a:t>
            </a:r>
            <a:endParaRPr lang="en-US" sz="1600" dirty="0"/>
          </a:p>
        </p:txBody>
      </p:sp>
      <p:sp>
        <p:nvSpPr>
          <p:cNvPr id="32" name="idea 5 meaning"/>
          <p:cNvSpPr txBox="1"/>
          <p:nvPr/>
        </p:nvSpPr>
        <p:spPr>
          <a:xfrm>
            <a:off x="2926080" y="3703320"/>
            <a:ext cx="3383280" cy="5486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Calls the backend; answers arrive as Observables</a:t>
            </a:r>
            <a:endParaRPr lang="en-US" sz="1400" dirty="0"/>
          </a:p>
        </p:txBody>
      </p:sp>
      <p:sp>
        <p:nvSpPr>
          <p:cNvPr id="33" name="idea 5 where"/>
          <p:cNvSpPr txBox="1"/>
          <p:nvPr/>
        </p:nvSpPr>
        <p:spPr>
          <a:xfrm>
            <a:off x="6400800" y="3703320"/>
            <a:ext cx="2194560" cy="54864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generated clients, interceptor</a:t>
            </a:r>
            <a:endParaRPr lang="en-US" sz="11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runs when the page loads</a:t>
            </a:r>
            <a:endParaRPr lang="en-US" sz="3200" dirty="0"/>
          </a:p>
        </p:txBody>
      </p:sp>
      <p:sp>
        <p:nvSpPr>
          <p:cNvPr id="4" name="boot 1 bg"/>
          <p:cNvSpPr/>
          <p:nvPr/>
        </p:nvSpPr>
        <p:spPr>
          <a:xfrm>
            <a:off x="457200" y="1234440"/>
            <a:ext cx="1572768" cy="2331720"/>
          </a:xfrm>
          <a:prstGeom prst="roundRect">
            <a:avLst>
              <a:gd name="adj" fmla="val 5814"/>
            </a:avLst>
          </a:prstGeom>
          <a:solidFill>
            <a:schemeClr val="bg2"/>
          </a:solidFill>
          <a:ln w="12700">
            <a:solidFill>
              <a:schemeClr val="bg2"/>
            </a:solidFill>
            <a:prstDash val="solid"/>
          </a:ln>
        </p:spPr>
      </p:sp>
      <p:sp>
        <p:nvSpPr>
          <p:cNvPr id="5" name="boot 1 dot"/>
          <p:cNvSpPr/>
          <p:nvPr/>
        </p:nvSpPr>
        <p:spPr>
          <a:xfrm>
            <a:off x="594360" y="1371600"/>
            <a:ext cx="365760" cy="365760"/>
          </a:xfrm>
          <a:prstGeom prst="ellipse">
            <a:avLst/>
          </a:prstGeom>
          <a:solidFill>
            <a:schemeClr val="accent1"/>
          </a:solidFill>
          <a:ln w="12700">
            <a:solidFill>
              <a:schemeClr val="accent1"/>
            </a:solidFill>
            <a:prstDash val="solid"/>
          </a:ln>
        </p:spPr>
      </p:sp>
      <p:sp>
        <p:nvSpPr>
          <p:cNvPr id="6" name="boot 1 dot label"/>
          <p:cNvSpPr txBox="1"/>
          <p:nvPr/>
        </p:nvSpPr>
        <p:spPr>
          <a:xfrm>
            <a:off x="594360" y="1371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boot 1 name"/>
          <p:cNvSpPr txBox="1"/>
          <p:nvPr/>
        </p:nvSpPr>
        <p:spPr>
          <a:xfrm>
            <a:off x="594360" y="1874520"/>
            <a:ext cx="132588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index.html</a:t>
            </a:r>
            <a:endParaRPr lang="en-US" sz="1500" dirty="0"/>
          </a:p>
        </p:txBody>
      </p:sp>
      <p:sp>
        <p:nvSpPr>
          <p:cNvPr id="8" name="boot 1 body"/>
          <p:cNvSpPr txBox="1"/>
          <p:nvPr/>
        </p:nvSpPr>
        <p:spPr>
          <a:xfrm>
            <a:off x="594360" y="2240280"/>
            <a:ext cx="13258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Holds &lt;tui-root&gt; and applies the saved theme early</a:t>
            </a:r>
            <a:endParaRPr lang="en-US" sz="1400" dirty="0"/>
          </a:p>
        </p:txBody>
      </p:sp>
      <p:sp>
        <p:nvSpPr>
          <p:cNvPr id="9" name="boot 2 bg"/>
          <p:cNvSpPr/>
          <p:nvPr/>
        </p:nvSpPr>
        <p:spPr>
          <a:xfrm>
            <a:off x="2121408" y="1234440"/>
            <a:ext cx="1572768" cy="2331720"/>
          </a:xfrm>
          <a:prstGeom prst="roundRect">
            <a:avLst>
              <a:gd name="adj" fmla="val 5814"/>
            </a:avLst>
          </a:prstGeom>
          <a:solidFill>
            <a:schemeClr val="bg2"/>
          </a:solidFill>
          <a:ln w="12700">
            <a:solidFill>
              <a:schemeClr val="bg2"/>
            </a:solidFill>
            <a:prstDash val="solid"/>
          </a:ln>
        </p:spPr>
      </p:sp>
      <p:sp>
        <p:nvSpPr>
          <p:cNvPr id="10" name="boot 2 dot"/>
          <p:cNvSpPr/>
          <p:nvPr/>
        </p:nvSpPr>
        <p:spPr>
          <a:xfrm>
            <a:off x="2258568" y="1371600"/>
            <a:ext cx="365760" cy="365760"/>
          </a:xfrm>
          <a:prstGeom prst="ellipse">
            <a:avLst/>
          </a:prstGeom>
          <a:solidFill>
            <a:schemeClr val="accent1"/>
          </a:solidFill>
          <a:ln w="12700">
            <a:solidFill>
              <a:schemeClr val="accent1"/>
            </a:solidFill>
            <a:prstDash val="solid"/>
          </a:ln>
        </p:spPr>
      </p:sp>
      <p:sp>
        <p:nvSpPr>
          <p:cNvPr id="11" name="boot 2 dot label"/>
          <p:cNvSpPr txBox="1"/>
          <p:nvPr/>
        </p:nvSpPr>
        <p:spPr>
          <a:xfrm>
            <a:off x="2258568" y="1371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boot 2 name"/>
          <p:cNvSpPr txBox="1"/>
          <p:nvPr/>
        </p:nvSpPr>
        <p:spPr>
          <a:xfrm>
            <a:off x="2258568" y="1874520"/>
            <a:ext cx="132588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main.ts</a:t>
            </a:r>
            <a:endParaRPr lang="en-US" sz="1500" dirty="0"/>
          </a:p>
        </p:txBody>
      </p:sp>
      <p:sp>
        <p:nvSpPr>
          <p:cNvPr id="13" name="boot 2 body"/>
          <p:cNvSpPr txBox="1"/>
          <p:nvPr/>
        </p:nvSpPr>
        <p:spPr>
          <a:xfrm>
            <a:off x="2258568" y="2240280"/>
            <a:ext cx="13258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Starts Angular with App and appConfig</a:t>
            </a:r>
            <a:endParaRPr lang="en-US" sz="1400" dirty="0"/>
          </a:p>
        </p:txBody>
      </p:sp>
      <p:sp>
        <p:nvSpPr>
          <p:cNvPr id="14" name="boot 3 bg"/>
          <p:cNvSpPr/>
          <p:nvPr/>
        </p:nvSpPr>
        <p:spPr>
          <a:xfrm>
            <a:off x="3785616" y="1234440"/>
            <a:ext cx="1572768" cy="2331720"/>
          </a:xfrm>
          <a:prstGeom prst="roundRect">
            <a:avLst>
              <a:gd name="adj" fmla="val 5814"/>
            </a:avLst>
          </a:prstGeom>
          <a:solidFill>
            <a:schemeClr val="bg2"/>
          </a:solidFill>
          <a:ln w="12700">
            <a:solidFill>
              <a:schemeClr val="bg2"/>
            </a:solidFill>
            <a:prstDash val="solid"/>
          </a:ln>
        </p:spPr>
      </p:sp>
      <p:sp>
        <p:nvSpPr>
          <p:cNvPr id="15" name="boot 3 dot"/>
          <p:cNvSpPr/>
          <p:nvPr/>
        </p:nvSpPr>
        <p:spPr>
          <a:xfrm>
            <a:off x="3922776" y="1371600"/>
            <a:ext cx="365760" cy="365760"/>
          </a:xfrm>
          <a:prstGeom prst="ellipse">
            <a:avLst/>
          </a:prstGeom>
          <a:solidFill>
            <a:schemeClr val="accent1"/>
          </a:solidFill>
          <a:ln w="12700">
            <a:solidFill>
              <a:schemeClr val="accent1"/>
            </a:solidFill>
            <a:prstDash val="solid"/>
          </a:ln>
        </p:spPr>
      </p:sp>
      <p:sp>
        <p:nvSpPr>
          <p:cNvPr id="16" name="boot 3 dot label"/>
          <p:cNvSpPr txBox="1"/>
          <p:nvPr/>
        </p:nvSpPr>
        <p:spPr>
          <a:xfrm>
            <a:off x="3922776" y="1371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7" name="boot 3 name"/>
          <p:cNvSpPr txBox="1"/>
          <p:nvPr/>
        </p:nvSpPr>
        <p:spPr>
          <a:xfrm>
            <a:off x="3922776" y="1874520"/>
            <a:ext cx="132588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app.config</a:t>
            </a:r>
            <a:endParaRPr lang="en-US" sz="1500" dirty="0"/>
          </a:p>
        </p:txBody>
      </p:sp>
      <p:sp>
        <p:nvSpPr>
          <p:cNvPr id="18" name="boot 3 body"/>
          <p:cNvSpPr txBox="1"/>
          <p:nvPr/>
        </p:nvSpPr>
        <p:spPr>
          <a:xfrm>
            <a:off x="3922776" y="2240280"/>
            <a:ext cx="13258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Providers: router, HTTP + interceptor, API base URLs</a:t>
            </a:r>
            <a:endParaRPr lang="en-US" sz="1400" dirty="0"/>
          </a:p>
        </p:txBody>
      </p:sp>
      <p:sp>
        <p:nvSpPr>
          <p:cNvPr id="19" name="boot 4 bg"/>
          <p:cNvSpPr/>
          <p:nvPr/>
        </p:nvSpPr>
        <p:spPr>
          <a:xfrm>
            <a:off x="5449824" y="1234440"/>
            <a:ext cx="1572768" cy="2331720"/>
          </a:xfrm>
          <a:prstGeom prst="roundRect">
            <a:avLst>
              <a:gd name="adj" fmla="val 5814"/>
            </a:avLst>
          </a:prstGeom>
          <a:solidFill>
            <a:schemeClr val="bg2"/>
          </a:solidFill>
          <a:ln w="12700">
            <a:solidFill>
              <a:schemeClr val="bg2"/>
            </a:solidFill>
            <a:prstDash val="solid"/>
          </a:ln>
        </p:spPr>
      </p:sp>
      <p:sp>
        <p:nvSpPr>
          <p:cNvPr id="20" name="boot 4 dot"/>
          <p:cNvSpPr/>
          <p:nvPr/>
        </p:nvSpPr>
        <p:spPr>
          <a:xfrm>
            <a:off x="5586984" y="1371600"/>
            <a:ext cx="365760" cy="365760"/>
          </a:xfrm>
          <a:prstGeom prst="ellipse">
            <a:avLst/>
          </a:prstGeom>
          <a:solidFill>
            <a:schemeClr val="accent1"/>
          </a:solidFill>
          <a:ln w="12700">
            <a:solidFill>
              <a:schemeClr val="accent1"/>
            </a:solidFill>
            <a:prstDash val="solid"/>
          </a:ln>
        </p:spPr>
      </p:sp>
      <p:sp>
        <p:nvSpPr>
          <p:cNvPr id="21" name="boot 4 dot label"/>
          <p:cNvSpPr txBox="1"/>
          <p:nvPr/>
        </p:nvSpPr>
        <p:spPr>
          <a:xfrm>
            <a:off x="5586984" y="1371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2" name="boot 4 name"/>
          <p:cNvSpPr txBox="1"/>
          <p:nvPr/>
        </p:nvSpPr>
        <p:spPr>
          <a:xfrm>
            <a:off x="5586984" y="1874520"/>
            <a:ext cx="132588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App</a:t>
            </a:r>
            <a:endParaRPr lang="en-US" sz="1500" dirty="0"/>
          </a:p>
        </p:txBody>
      </p:sp>
      <p:sp>
        <p:nvSpPr>
          <p:cNvPr id="23" name="boot 4 body"/>
          <p:cNvSpPr txBox="1"/>
          <p:nvPr/>
        </p:nvSpPr>
        <p:spPr>
          <a:xfrm>
            <a:off x="5586984" y="2240280"/>
            <a:ext cx="13258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Root component. Template is only &lt;router-outlet /&gt;</a:t>
            </a:r>
            <a:endParaRPr lang="en-US" sz="1400" dirty="0"/>
          </a:p>
        </p:txBody>
      </p:sp>
      <p:sp>
        <p:nvSpPr>
          <p:cNvPr id="24" name="boot 5 bg"/>
          <p:cNvSpPr/>
          <p:nvPr/>
        </p:nvSpPr>
        <p:spPr>
          <a:xfrm>
            <a:off x="7114032" y="1234440"/>
            <a:ext cx="1572768" cy="2331720"/>
          </a:xfrm>
          <a:prstGeom prst="roundRect">
            <a:avLst>
              <a:gd name="adj" fmla="val 5814"/>
            </a:avLst>
          </a:prstGeom>
          <a:solidFill>
            <a:schemeClr val="bg2"/>
          </a:solidFill>
          <a:ln w="12700">
            <a:solidFill>
              <a:schemeClr val="bg2"/>
            </a:solidFill>
            <a:prstDash val="solid"/>
          </a:ln>
        </p:spPr>
      </p:sp>
      <p:sp>
        <p:nvSpPr>
          <p:cNvPr id="25" name="boot 5 dot"/>
          <p:cNvSpPr/>
          <p:nvPr/>
        </p:nvSpPr>
        <p:spPr>
          <a:xfrm>
            <a:off x="7251192" y="1371600"/>
            <a:ext cx="365760" cy="365760"/>
          </a:xfrm>
          <a:prstGeom prst="ellipse">
            <a:avLst/>
          </a:prstGeom>
          <a:solidFill>
            <a:schemeClr val="accent1"/>
          </a:solidFill>
          <a:ln w="12700">
            <a:solidFill>
              <a:schemeClr val="accent1"/>
            </a:solidFill>
            <a:prstDash val="solid"/>
          </a:ln>
        </p:spPr>
      </p:sp>
      <p:sp>
        <p:nvSpPr>
          <p:cNvPr id="26" name="boot 5 dot label"/>
          <p:cNvSpPr txBox="1"/>
          <p:nvPr/>
        </p:nvSpPr>
        <p:spPr>
          <a:xfrm>
            <a:off x="7251192" y="1371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7" name="boot 5 name"/>
          <p:cNvSpPr txBox="1"/>
          <p:nvPr/>
        </p:nvSpPr>
        <p:spPr>
          <a:xfrm>
            <a:off x="7251192" y="1874520"/>
            <a:ext cx="132588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Router</a:t>
            </a:r>
            <a:endParaRPr lang="en-US" sz="1500" dirty="0"/>
          </a:p>
        </p:txBody>
      </p:sp>
      <p:sp>
        <p:nvSpPr>
          <p:cNvPr id="28" name="boot 5 body"/>
          <p:cNvSpPr txBox="1"/>
          <p:nvPr/>
        </p:nvSpPr>
        <p:spPr>
          <a:xfrm>
            <a:off x="7251192" y="2240280"/>
            <a:ext cx="1325880" cy="12344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Reads the URL, loads that page, draws it</a:t>
            </a:r>
            <a:endParaRPr lang="en-US" sz="1400" dirty="0"/>
          </a:p>
        </p:txBody>
      </p:sp>
      <p:sp>
        <p:nvSpPr>
          <p:cNvPr id="29" name="zoneless callout bg"/>
          <p:cNvSpPr/>
          <p:nvPr/>
        </p:nvSpPr>
        <p:spPr>
          <a:xfrm>
            <a:off x="457200" y="3794760"/>
            <a:ext cx="8229600" cy="777240"/>
          </a:xfrm>
          <a:prstGeom prst="roundRect">
            <a:avLst>
              <a:gd name="adj" fmla="val 9412"/>
            </a:avLst>
          </a:prstGeom>
          <a:solidFill>
            <a:schemeClr val="tx2"/>
          </a:solidFill>
          <a:ln w="12700">
            <a:solidFill>
              <a:schemeClr val="tx2"/>
            </a:solidFill>
            <a:prstDash val="solid"/>
          </a:ln>
        </p:spPr>
      </p:sp>
      <p:sp>
        <p:nvSpPr>
          <p:cNvPr id="30" name="zoneless callout"/>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Zoneless: </a:t>
            </a:r>
            <a:pPr indent="0" marL="0">
              <a:buNone/>
            </a:pPr>
            <a:r>
              <a:rPr lang="en-US" sz="1400" dirty="0">
                <a:solidFill>
                  <a:schemeClr val="bg1"/>
                </a:solidFill>
                <a:latin typeface="Calibri" pitchFamily="34" charset="0"/>
                <a:ea typeface="Calibri" pitchFamily="34" charset="-122"/>
                <a:cs typeface="Calibri" pitchFamily="34" charset="-120"/>
              </a:rPr>
              <a:t>no zone.js watching everything. Signals tell Angular exactly what changed, so state lives in signals.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Where things live</a:t>
            </a:r>
            <a:endParaRPr lang="en-US" sz="3200" dirty="0"/>
          </a:p>
        </p:txBody>
      </p:sp>
      <p:sp>
        <p:nvSpPr>
          <p:cNvPr id="4" name="folder tree bg"/>
          <p:cNvSpPr/>
          <p:nvPr/>
        </p:nvSpPr>
        <p:spPr>
          <a:xfrm>
            <a:off x="457200" y="1143000"/>
            <a:ext cx="4754880" cy="3520440"/>
          </a:xfrm>
          <a:prstGeom prst="roundRect">
            <a:avLst>
              <a:gd name="adj" fmla="val 2078"/>
            </a:avLst>
          </a:prstGeom>
          <a:solidFill>
            <a:schemeClr val="tx1"/>
          </a:solidFill>
          <a:ln w="12700">
            <a:solidFill>
              <a:schemeClr val="tx1"/>
            </a:solidFill>
            <a:prstDash val="solid"/>
          </a:ln>
        </p:spPr>
      </p:sp>
      <p:sp>
        <p:nvSpPr>
          <p:cNvPr id="5" name="folder tree"/>
          <p:cNvSpPr txBox="1"/>
          <p:nvPr/>
        </p:nvSpPr>
        <p:spPr>
          <a:xfrm>
            <a:off x="594360" y="1234440"/>
            <a:ext cx="4480560" cy="333756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src/app/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app.ts          root component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app.config.ts   providers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app.routes.ts   URL -&gt; page</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core/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auth/  layout/  notifications/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services/  search/  theme/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user/  charts/  format/  errors/</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features/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landing/ auth/ dashboard/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portfolio/ orders/ blotter/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bank-accounts/ account/ settings/</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generated/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auth-client/  trade-client/</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testing/fake-api.ts</a:t>
            </a:r>
            <a:endParaRPr lang="en-US" sz="1200" dirty="0"/>
          </a:p>
        </p:txBody>
      </p:sp>
      <p:sp>
        <p:nvSpPr>
          <p:cNvPr id="6" name="core note bg"/>
          <p:cNvSpPr/>
          <p:nvPr/>
        </p:nvSpPr>
        <p:spPr>
          <a:xfrm>
            <a:off x="5440680" y="1143000"/>
            <a:ext cx="3246120" cy="1097280"/>
          </a:xfrm>
          <a:prstGeom prst="roundRect">
            <a:avLst>
              <a:gd name="adj" fmla="val 8333"/>
            </a:avLst>
          </a:prstGeom>
          <a:solidFill>
            <a:schemeClr val="bg2"/>
          </a:solidFill>
          <a:ln w="12700">
            <a:solidFill>
              <a:schemeClr val="bg2"/>
            </a:solidFill>
            <a:prstDash val="solid"/>
          </a:ln>
        </p:spPr>
      </p:sp>
      <p:sp>
        <p:nvSpPr>
          <p:cNvPr id="7" name="core note head"/>
          <p:cNvSpPr txBox="1"/>
          <p:nvPr/>
        </p:nvSpPr>
        <p:spPr>
          <a:xfrm>
            <a:off x="5623560" y="1252728"/>
            <a:ext cx="2880360" cy="36576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core/</a:t>
            </a:r>
            <a:endParaRPr lang="en-US" sz="1600" dirty="0"/>
          </a:p>
        </p:txBody>
      </p:sp>
      <p:sp>
        <p:nvSpPr>
          <p:cNvPr id="8" name="core note body"/>
          <p:cNvSpPr txBox="1"/>
          <p:nvPr/>
        </p:nvSpPr>
        <p:spPr>
          <a:xfrm>
            <a:off x="5623560" y="1645920"/>
            <a:ext cx="288036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App-wide plumbing: login state, HTTP interceptor, layout.</a:t>
            </a:r>
            <a:endParaRPr lang="en-US" sz="1400" dirty="0"/>
          </a:p>
        </p:txBody>
      </p:sp>
      <p:sp>
        <p:nvSpPr>
          <p:cNvPr id="9" name="features note bg"/>
          <p:cNvSpPr/>
          <p:nvPr/>
        </p:nvSpPr>
        <p:spPr>
          <a:xfrm>
            <a:off x="5440680" y="2377440"/>
            <a:ext cx="3246120" cy="1097280"/>
          </a:xfrm>
          <a:prstGeom prst="roundRect">
            <a:avLst>
              <a:gd name="adj" fmla="val 8333"/>
            </a:avLst>
          </a:prstGeom>
          <a:solidFill>
            <a:schemeClr val="bg2"/>
          </a:solidFill>
          <a:ln w="12700">
            <a:solidFill>
              <a:schemeClr val="bg2"/>
            </a:solidFill>
            <a:prstDash val="solid"/>
          </a:ln>
        </p:spPr>
      </p:sp>
      <p:sp>
        <p:nvSpPr>
          <p:cNvPr id="10" name="features note head"/>
          <p:cNvSpPr txBox="1"/>
          <p:nvPr/>
        </p:nvSpPr>
        <p:spPr>
          <a:xfrm>
            <a:off x="5623560" y="2487168"/>
            <a:ext cx="288036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features/</a:t>
            </a:r>
            <a:endParaRPr lang="en-US" sz="1600" dirty="0"/>
          </a:p>
        </p:txBody>
      </p:sp>
      <p:sp>
        <p:nvSpPr>
          <p:cNvPr id="11" name="features note body"/>
          <p:cNvSpPr txBox="1"/>
          <p:nvPr/>
        </p:nvSpPr>
        <p:spPr>
          <a:xfrm>
            <a:off x="5623560" y="2880360"/>
            <a:ext cx="288036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folder per screen. Pages may use core, not the reverse.</a:t>
            </a:r>
            <a:endParaRPr lang="en-US" sz="1400" dirty="0"/>
          </a:p>
        </p:txBody>
      </p:sp>
      <p:sp>
        <p:nvSpPr>
          <p:cNvPr id="12" name="generated note bg"/>
          <p:cNvSpPr/>
          <p:nvPr/>
        </p:nvSpPr>
        <p:spPr>
          <a:xfrm>
            <a:off x="5440680" y="3611880"/>
            <a:ext cx="3246120" cy="1051560"/>
          </a:xfrm>
          <a:prstGeom prst="roundRect">
            <a:avLst>
              <a:gd name="adj" fmla="val 8696"/>
            </a:avLst>
          </a:prstGeom>
          <a:solidFill>
            <a:schemeClr val="bg2"/>
          </a:solidFill>
          <a:ln w="12700">
            <a:solidFill>
              <a:schemeClr val="bg2"/>
            </a:solidFill>
            <a:prstDash val="solid"/>
          </a:ln>
        </p:spPr>
      </p:sp>
      <p:sp>
        <p:nvSpPr>
          <p:cNvPr id="13" name="generated note head"/>
          <p:cNvSpPr txBox="1"/>
          <p:nvPr/>
        </p:nvSpPr>
        <p:spPr>
          <a:xfrm>
            <a:off x="5623560" y="3721608"/>
            <a:ext cx="2880360" cy="36576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generated/</a:t>
            </a:r>
            <a:endParaRPr lang="en-US" sz="1600" dirty="0"/>
          </a:p>
        </p:txBody>
      </p:sp>
      <p:sp>
        <p:nvSpPr>
          <p:cNvPr id="14" name="generated note body"/>
          <p:cNvSpPr txBox="1"/>
          <p:nvPr/>
        </p:nvSpPr>
        <p:spPr>
          <a:xfrm>
            <a:off x="5623560" y="4114800"/>
            <a:ext cx="28803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Written by OpenAPI Generator. Never edit by hand.</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Anatomy of a component</a:t>
            </a:r>
            <a:endParaRPr lang="en-US" sz="3200" dirty="0"/>
          </a:p>
        </p:txBody>
      </p:sp>
      <p:sp>
        <p:nvSpPr>
          <p:cNvPr id="4" name="component code bg"/>
          <p:cNvSpPr/>
          <p:nvPr/>
        </p:nvSpPr>
        <p:spPr>
          <a:xfrm>
            <a:off x="457200" y="1143000"/>
            <a:ext cx="4937760" cy="3520440"/>
          </a:xfrm>
          <a:prstGeom prst="roundRect">
            <a:avLst>
              <a:gd name="adj" fmla="val 2078"/>
            </a:avLst>
          </a:prstGeom>
          <a:solidFill>
            <a:schemeClr val="tx1"/>
          </a:solidFill>
          <a:ln w="12700">
            <a:solidFill>
              <a:schemeClr val="tx1"/>
            </a:solidFill>
            <a:prstDash val="solid"/>
          </a:ln>
        </p:spPr>
      </p:sp>
      <p:sp>
        <p:nvSpPr>
          <p:cNvPr id="5" name="component code"/>
          <p:cNvSpPr txBox="1"/>
          <p:nvPr/>
        </p:nvSpPr>
        <p:spPr>
          <a:xfrm>
            <a:off x="594360" y="1234440"/>
            <a:ext cx="4663440" cy="333756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@Component({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selector: 'tui-login-page',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imports: [RouterLink, ThemeToggle],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templateUrl: './login-page.html',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styleUrl: './login-page.css'</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export class LoginPage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protected readonly username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signal('');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protected readonly error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signal&lt;string | null&gt;(null);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protected onSubmit(e: Event)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6" name="anat 1 dot"/>
          <p:cNvSpPr/>
          <p:nvPr/>
        </p:nvSpPr>
        <p:spPr>
          <a:xfrm>
            <a:off x="5623560" y="1188720"/>
            <a:ext cx="365760" cy="365760"/>
          </a:xfrm>
          <a:prstGeom prst="ellipse">
            <a:avLst/>
          </a:prstGeom>
          <a:solidFill>
            <a:schemeClr val="accent2"/>
          </a:solidFill>
          <a:ln w="12700">
            <a:solidFill>
              <a:schemeClr val="accent2"/>
            </a:solidFill>
            <a:prstDash val="solid"/>
          </a:ln>
        </p:spPr>
      </p:sp>
      <p:sp>
        <p:nvSpPr>
          <p:cNvPr id="7" name="anat 1 dot label"/>
          <p:cNvSpPr txBox="1"/>
          <p:nvPr/>
        </p:nvSpPr>
        <p:spPr>
          <a:xfrm>
            <a:off x="5623560" y="1188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8" name="anat 1 text"/>
          <p:cNvSpPr txBox="1"/>
          <p:nvPr/>
        </p:nvSpPr>
        <p:spPr>
          <a:xfrm>
            <a:off x="6126480" y="1143000"/>
            <a:ext cx="2560320" cy="8229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selector</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The custom HTML tag name for this component.</a:t>
            </a:r>
            <a:endParaRPr lang="en-US" sz="1500" dirty="0"/>
          </a:p>
        </p:txBody>
      </p:sp>
      <p:sp>
        <p:nvSpPr>
          <p:cNvPr id="9" name="anat 2 dot"/>
          <p:cNvSpPr/>
          <p:nvPr/>
        </p:nvSpPr>
        <p:spPr>
          <a:xfrm>
            <a:off x="5623560" y="2075688"/>
            <a:ext cx="365760" cy="365760"/>
          </a:xfrm>
          <a:prstGeom prst="ellipse">
            <a:avLst/>
          </a:prstGeom>
          <a:solidFill>
            <a:schemeClr val="accent2"/>
          </a:solidFill>
          <a:ln w="12700">
            <a:solidFill>
              <a:schemeClr val="accent2"/>
            </a:solidFill>
            <a:prstDash val="solid"/>
          </a:ln>
        </p:spPr>
      </p:sp>
      <p:sp>
        <p:nvSpPr>
          <p:cNvPr id="10" name="anat 2 dot label"/>
          <p:cNvSpPr txBox="1"/>
          <p:nvPr/>
        </p:nvSpPr>
        <p:spPr>
          <a:xfrm>
            <a:off x="5623560" y="20756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anat 2 text"/>
          <p:cNvSpPr txBox="1"/>
          <p:nvPr/>
        </p:nvSpPr>
        <p:spPr>
          <a:xfrm>
            <a:off x="6126480" y="2029968"/>
            <a:ext cx="2560320" cy="8229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imports</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Other components the template uses.</a:t>
            </a:r>
            <a:endParaRPr lang="en-US" sz="1500" dirty="0"/>
          </a:p>
        </p:txBody>
      </p:sp>
      <p:sp>
        <p:nvSpPr>
          <p:cNvPr id="12" name="anat 3 dot"/>
          <p:cNvSpPr/>
          <p:nvPr/>
        </p:nvSpPr>
        <p:spPr>
          <a:xfrm>
            <a:off x="5623560" y="2962656"/>
            <a:ext cx="365760" cy="365760"/>
          </a:xfrm>
          <a:prstGeom prst="ellipse">
            <a:avLst/>
          </a:prstGeom>
          <a:solidFill>
            <a:schemeClr val="accent2"/>
          </a:solidFill>
          <a:ln w="12700">
            <a:solidFill>
              <a:schemeClr val="accent2"/>
            </a:solidFill>
            <a:prstDash val="solid"/>
          </a:ln>
        </p:spPr>
      </p:sp>
      <p:sp>
        <p:nvSpPr>
          <p:cNvPr id="13" name="anat 3 dot label"/>
          <p:cNvSpPr txBox="1"/>
          <p:nvPr/>
        </p:nvSpPr>
        <p:spPr>
          <a:xfrm>
            <a:off x="5623560" y="29626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4" name="anat 3 text"/>
          <p:cNvSpPr txBox="1"/>
          <p:nvPr/>
        </p:nvSpPr>
        <p:spPr>
          <a:xfrm>
            <a:off x="6126480" y="2916936"/>
            <a:ext cx="2560320" cy="8229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protected</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Template can see it; code outside cannot.</a:t>
            </a:r>
            <a:endParaRPr lang="en-US" sz="1500" dirty="0"/>
          </a:p>
        </p:txBody>
      </p:sp>
      <p:sp>
        <p:nvSpPr>
          <p:cNvPr id="15" name="anat 4 dot"/>
          <p:cNvSpPr/>
          <p:nvPr/>
        </p:nvSpPr>
        <p:spPr>
          <a:xfrm>
            <a:off x="5623560" y="3849624"/>
            <a:ext cx="365760" cy="365760"/>
          </a:xfrm>
          <a:prstGeom prst="ellipse">
            <a:avLst/>
          </a:prstGeom>
          <a:solidFill>
            <a:schemeClr val="accent2"/>
          </a:solidFill>
          <a:ln w="12700">
            <a:solidFill>
              <a:schemeClr val="accent2"/>
            </a:solidFill>
            <a:prstDash val="solid"/>
          </a:ln>
        </p:spPr>
      </p:sp>
      <p:sp>
        <p:nvSpPr>
          <p:cNvPr id="16" name="anat 4 dot label"/>
          <p:cNvSpPr txBox="1"/>
          <p:nvPr/>
        </p:nvSpPr>
        <p:spPr>
          <a:xfrm>
            <a:off x="5623560" y="384962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7" name="anat 4 text"/>
          <p:cNvSpPr txBox="1"/>
          <p:nvPr/>
        </p:nvSpPr>
        <p:spPr>
          <a:xfrm>
            <a:off x="6126480" y="3803904"/>
            <a:ext cx="2560320" cy="8229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styleUrl</a:t>
            </a:r>
            <a:endParaRPr lang="en-US" sz="1500" dirty="0"/>
          </a:p>
          <a:p>
            <a:pPr indent="0" marL="0">
              <a:buNone/>
            </a:pPr>
            <a:r>
              <a:rPr lang="en-US" sz="1400" dirty="0">
                <a:solidFill>
                  <a:schemeClr val="tx1"/>
                </a:solidFill>
                <a:latin typeface="Calibri" pitchFamily="34" charset="0"/>
                <a:ea typeface="Calibri" pitchFamily="34" charset="-122"/>
                <a:cs typeface="Calibri" pitchFamily="34" charset="-120"/>
              </a:rPr>
              <a:t>CSS scoped to this component only.</a:t>
            </a:r>
            <a:endParaRPr lang="en-US" sz="15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Anatomy, part 2: class meets template</a:t>
            </a:r>
            <a:endParaRPr lang="en-US" sz="3200" dirty="0"/>
          </a:p>
        </p:txBody>
      </p:sp>
      <p:sp>
        <p:nvSpPr>
          <p:cNvPr id="4" name="class side bg"/>
          <p:cNvSpPr/>
          <p:nvPr/>
        </p:nvSpPr>
        <p:spPr>
          <a:xfrm>
            <a:off x="457200" y="1143000"/>
            <a:ext cx="4023360" cy="2011680"/>
          </a:xfrm>
          <a:prstGeom prst="roundRect">
            <a:avLst>
              <a:gd name="adj" fmla="val 3636"/>
            </a:avLst>
          </a:prstGeom>
          <a:solidFill>
            <a:schemeClr val="tx1"/>
          </a:solidFill>
          <a:ln w="12700">
            <a:solidFill>
              <a:schemeClr val="tx1"/>
            </a:solidFill>
            <a:prstDash val="solid"/>
          </a:ln>
        </p:spPr>
      </p:sp>
      <p:sp>
        <p:nvSpPr>
          <p:cNvPr id="5" name="class side"/>
          <p:cNvSpPr txBox="1"/>
          <p:nvPr/>
        </p:nvSpPr>
        <p:spPr>
          <a:xfrm>
            <a:off x="594360" y="1234440"/>
            <a:ext cx="3749040" cy="18288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login-page.ts  (the class)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username = signal('');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registered = signal(false);</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onUsernameInput(e: Event)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this.username.set(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e.target.value);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6" name="template side bg"/>
          <p:cNvSpPr/>
          <p:nvPr/>
        </p:nvSpPr>
        <p:spPr>
          <a:xfrm>
            <a:off x="4663440" y="1143000"/>
            <a:ext cx="4023360" cy="2011680"/>
          </a:xfrm>
          <a:prstGeom prst="roundRect">
            <a:avLst>
              <a:gd name="adj" fmla="val 3636"/>
            </a:avLst>
          </a:prstGeom>
          <a:solidFill>
            <a:schemeClr val="tx1"/>
          </a:solidFill>
          <a:ln w="12700">
            <a:solidFill>
              <a:schemeClr val="tx1"/>
            </a:solidFill>
            <a:prstDash val="solid"/>
          </a:ln>
        </p:spPr>
      </p:sp>
      <p:sp>
        <p:nvSpPr>
          <p:cNvPr id="7" name="template side"/>
          <p:cNvSpPr txBox="1"/>
          <p:nvPr/>
        </p:nvSpPr>
        <p:spPr>
          <a:xfrm>
            <a:off x="4800600" y="1234440"/>
            <a:ext cx="3749040" cy="18288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login-page.html  (the template)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&lt;input [value]="username()"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(input)="onUsernameInput($event)"&gt;</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@if (registered())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&lt;div class="alert"&gt;Account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created.&lt;/div&gt;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8" name="class to template bg"/>
          <p:cNvSpPr/>
          <p:nvPr/>
        </p:nvSpPr>
        <p:spPr>
          <a:xfrm>
            <a:off x="457200" y="3337560"/>
            <a:ext cx="2651760" cy="1325880"/>
          </a:xfrm>
          <a:prstGeom prst="roundRect">
            <a:avLst>
              <a:gd name="adj" fmla="val 6897"/>
            </a:avLst>
          </a:prstGeom>
          <a:solidFill>
            <a:schemeClr val="bg2"/>
          </a:solidFill>
          <a:ln w="12700">
            <a:solidFill>
              <a:schemeClr val="bg2"/>
            </a:solidFill>
            <a:prstDash val="solid"/>
          </a:ln>
        </p:spPr>
      </p:sp>
      <p:sp>
        <p:nvSpPr>
          <p:cNvPr id="9" name="class to template head"/>
          <p:cNvSpPr txBox="1"/>
          <p:nvPr/>
        </p:nvSpPr>
        <p:spPr>
          <a:xfrm>
            <a:off x="640080" y="3447288"/>
            <a:ext cx="2286000" cy="36576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Class to screen</a:t>
            </a:r>
            <a:endParaRPr lang="en-US" sz="1500" dirty="0"/>
          </a:p>
        </p:txBody>
      </p:sp>
      <p:sp>
        <p:nvSpPr>
          <p:cNvPr id="10" name="class to template body"/>
          <p:cNvSpPr txBox="1"/>
          <p:nvPr/>
        </p:nvSpPr>
        <p:spPr>
          <a:xfrm>
            <a:off x="640080" y="384048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Reading username() in the template shows the value and registers the dependency.</a:t>
            </a:r>
            <a:endParaRPr lang="en-US" sz="1400" dirty="0"/>
          </a:p>
        </p:txBody>
      </p:sp>
      <p:sp>
        <p:nvSpPr>
          <p:cNvPr id="11" name="template to class bg"/>
          <p:cNvSpPr/>
          <p:nvPr/>
        </p:nvSpPr>
        <p:spPr>
          <a:xfrm>
            <a:off x="3246120" y="3337560"/>
            <a:ext cx="2651760" cy="1325880"/>
          </a:xfrm>
          <a:prstGeom prst="roundRect">
            <a:avLst>
              <a:gd name="adj" fmla="val 6897"/>
            </a:avLst>
          </a:prstGeom>
          <a:solidFill>
            <a:schemeClr val="bg2"/>
          </a:solidFill>
          <a:ln w="12700">
            <a:solidFill>
              <a:schemeClr val="bg2"/>
            </a:solidFill>
            <a:prstDash val="solid"/>
          </a:ln>
        </p:spPr>
      </p:sp>
      <p:sp>
        <p:nvSpPr>
          <p:cNvPr id="12" name="template to class head"/>
          <p:cNvSpPr txBox="1"/>
          <p:nvPr/>
        </p:nvSpPr>
        <p:spPr>
          <a:xfrm>
            <a:off x="3429000" y="3447288"/>
            <a:ext cx="2286000" cy="36576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Screen to class</a:t>
            </a:r>
            <a:endParaRPr lang="en-US" sz="1500" dirty="0"/>
          </a:p>
        </p:txBody>
      </p:sp>
      <p:sp>
        <p:nvSpPr>
          <p:cNvPr id="13" name="template to class body"/>
          <p:cNvSpPr txBox="1"/>
          <p:nvPr/>
        </p:nvSpPr>
        <p:spPr>
          <a:xfrm>
            <a:off x="3429000" y="384048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(input) calls the method, which calls set(). That changes the signal.</a:t>
            </a:r>
            <a:endParaRPr lang="en-US" sz="1400" dirty="0"/>
          </a:p>
        </p:txBody>
      </p:sp>
      <p:sp>
        <p:nvSpPr>
          <p:cNvPr id="14" name="redraw bg"/>
          <p:cNvSpPr/>
          <p:nvPr/>
        </p:nvSpPr>
        <p:spPr>
          <a:xfrm>
            <a:off x="6035040" y="3337560"/>
            <a:ext cx="2651760" cy="1325880"/>
          </a:xfrm>
          <a:prstGeom prst="roundRect">
            <a:avLst>
              <a:gd name="adj" fmla="val 6897"/>
            </a:avLst>
          </a:prstGeom>
          <a:solidFill>
            <a:schemeClr val="bg2"/>
          </a:solidFill>
          <a:ln w="12700">
            <a:solidFill>
              <a:schemeClr val="bg2"/>
            </a:solidFill>
            <a:prstDash val="solid"/>
          </a:ln>
        </p:spPr>
      </p:sp>
      <p:sp>
        <p:nvSpPr>
          <p:cNvPr id="15" name="redraw head"/>
          <p:cNvSpPr txBox="1"/>
          <p:nvPr/>
        </p:nvSpPr>
        <p:spPr>
          <a:xfrm>
            <a:off x="6217920" y="3447288"/>
            <a:ext cx="2286000" cy="36576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Targeted redraw</a:t>
            </a:r>
            <a:endParaRPr lang="en-US" sz="1500" dirty="0"/>
          </a:p>
        </p:txBody>
      </p:sp>
      <p:sp>
        <p:nvSpPr>
          <p:cNvPr id="16" name="redraw body"/>
          <p:cNvSpPr txBox="1"/>
          <p:nvPr/>
        </p:nvSpPr>
        <p:spPr>
          <a:xfrm>
            <a:off x="6217920" y="3840480"/>
            <a:ext cx="228600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Only bindings that read a changed signal update. No page-wide check.</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Template syntax: the five things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gridCol w="2377440"/>
                <a:gridCol w="320040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Syntax</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Real example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 value }}</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Print a value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 toast.message }}</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[prop]="x"</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Set a property from a value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[value]="username()"</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(event)="fn()"</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Run code on an event</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(submit)="onSubmit($event)"</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@if / @else</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Show or hide a block</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@if (registered()) { ... }</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@for (x of xs; track x.id)</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Repeat a block</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@for (toast of toasts(); ...)</a:t>
                      </a:r>
                      <a:endParaRPr lang="en-US" sz="12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r>
            </a:tbl>
          </a:graphicData>
        </a:graphic>
      </p:graphicFrame>
      <p:sp>
        <p:nvSpPr>
          <p:cNvPr id="5" name="template reminder"/>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Remember: </a:t>
            </a:r>
            <a:pPr indent="0" marL="0">
              <a:buNone/>
            </a:pPr>
            <a:r>
              <a:rPr lang="en-US" sz="1400" dirty="0">
                <a:solidFill>
                  <a:schemeClr val="tx1"/>
                </a:solidFill>
                <a:latin typeface="Calibri" pitchFamily="34" charset="0"/>
                <a:ea typeface="Calibri" pitchFamily="34" charset="-122"/>
                <a:cs typeface="Calibri" pitchFamily="34" charset="-120"/>
              </a:rPr>
              <a:t>signals are read with parentheses in a template: username(), never username.</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Signals: how the screen knows to update</a:t>
            </a:r>
            <a:endParaRPr lang="en-US" sz="3200" dirty="0"/>
          </a:p>
        </p:txBody>
      </p:sp>
      <p:sp>
        <p:nvSpPr>
          <p:cNvPr id="4" name="signal code bg"/>
          <p:cNvSpPr/>
          <p:nvPr/>
        </p:nvSpPr>
        <p:spPr>
          <a:xfrm>
            <a:off x="457200" y="1143000"/>
            <a:ext cx="4206240" cy="3520440"/>
          </a:xfrm>
          <a:prstGeom prst="roundRect">
            <a:avLst>
              <a:gd name="adj" fmla="val 2078"/>
            </a:avLst>
          </a:prstGeom>
          <a:solidFill>
            <a:schemeClr val="tx1"/>
          </a:solidFill>
          <a:ln w="12700">
            <a:solidFill>
              <a:schemeClr val="tx1"/>
            </a:solidFill>
            <a:prstDash val="solid"/>
          </a:ln>
        </p:spPr>
      </p:sp>
      <p:sp>
        <p:nvSpPr>
          <p:cNvPr id="5" name="signal code"/>
          <p:cNvSpPr txBox="1"/>
          <p:nvPr/>
        </p:nvSpPr>
        <p:spPr>
          <a:xfrm>
            <a:off x="594360" y="1234440"/>
            <a:ext cx="3931920" cy="33375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const count = signal(0);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count.set(5);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count.update(n =&gt; n + 1);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count();   // read it</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const double = computed(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=&gt; count() * 2);</a:t>
            </a:r>
            <a:endParaRPr lang="en-US" sz="1200" dirty="0"/>
          </a:p>
          <a:p>
            <a:pPr indent="0" marL="0">
              <a:buNone/>
            </a:pP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effect(() =&gt;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 id = this.accountId();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untracked(() =&gt;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this.loadAccountData(id));</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a:t>
            </a:r>
            <a:endParaRPr lang="en-US" sz="1200" dirty="0"/>
          </a:p>
        </p:txBody>
      </p:sp>
      <p:sp>
        <p:nvSpPr>
          <p:cNvPr id="6" name="chain title"/>
          <p:cNvSpPr txBox="1"/>
          <p:nvPr/>
        </p:nvSpPr>
        <p:spPr>
          <a:xfrm>
            <a:off x="4892040" y="1143000"/>
            <a:ext cx="3794760" cy="32004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Order ticket: one number drives all</a:t>
            </a:r>
            <a:endParaRPr lang="en-US" sz="1500" dirty="0"/>
          </a:p>
        </p:txBody>
      </p:sp>
      <p:sp>
        <p:nvSpPr>
          <p:cNvPr id="7" name="chain 1 bg"/>
          <p:cNvSpPr/>
          <p:nvPr/>
        </p:nvSpPr>
        <p:spPr>
          <a:xfrm>
            <a:off x="4892040" y="1554480"/>
            <a:ext cx="3794760" cy="502920"/>
          </a:xfrm>
          <a:prstGeom prst="roundRect">
            <a:avLst>
              <a:gd name="adj" fmla="val 14545"/>
            </a:avLst>
          </a:prstGeom>
          <a:solidFill>
            <a:schemeClr val="accent1"/>
          </a:solidFill>
          <a:ln w="12700">
            <a:solidFill>
              <a:schemeClr val="accent1"/>
            </a:solidFill>
            <a:prstDash val="solid"/>
          </a:ln>
        </p:spPr>
      </p:sp>
      <p:sp>
        <p:nvSpPr>
          <p:cNvPr id="8" name="chain 1"/>
          <p:cNvSpPr txBox="1"/>
          <p:nvPr/>
        </p:nvSpPr>
        <p:spPr>
          <a:xfrm>
            <a:off x="4892040" y="1554480"/>
            <a:ext cx="37947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quantity (typed)</a:t>
            </a:r>
            <a:endParaRPr lang="en-US" sz="1400" dirty="0"/>
          </a:p>
        </p:txBody>
      </p:sp>
      <p:sp>
        <p:nvSpPr>
          <p:cNvPr id="9" name="chain arrow 1"/>
          <p:cNvSpPr txBox="1"/>
          <p:nvPr/>
        </p:nvSpPr>
        <p:spPr>
          <a:xfrm>
            <a:off x="4892040" y="2057400"/>
            <a:ext cx="3794760" cy="27432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10" name="chain 2 bg"/>
          <p:cNvSpPr/>
          <p:nvPr/>
        </p:nvSpPr>
        <p:spPr>
          <a:xfrm>
            <a:off x="4892040" y="2331720"/>
            <a:ext cx="3794760" cy="502920"/>
          </a:xfrm>
          <a:prstGeom prst="roundRect">
            <a:avLst>
              <a:gd name="adj" fmla="val 14545"/>
            </a:avLst>
          </a:prstGeom>
          <a:solidFill>
            <a:schemeClr val="bg2"/>
          </a:solidFill>
          <a:ln w="12700">
            <a:solidFill>
              <a:schemeClr val="bg2"/>
            </a:solidFill>
            <a:prstDash val="solid"/>
          </a:ln>
        </p:spPr>
      </p:sp>
      <p:sp>
        <p:nvSpPr>
          <p:cNvPr id="11" name="chain 2"/>
          <p:cNvSpPr txBox="1"/>
          <p:nvPr/>
        </p:nvSpPr>
        <p:spPr>
          <a:xfrm>
            <a:off x="4892040" y="2331720"/>
            <a:ext cx="379476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estimatedTotal, protectedLimit</a:t>
            </a:r>
            <a:endParaRPr lang="en-US" sz="1400" dirty="0"/>
          </a:p>
        </p:txBody>
      </p:sp>
      <p:sp>
        <p:nvSpPr>
          <p:cNvPr id="12" name="chain arrow 2"/>
          <p:cNvSpPr txBox="1"/>
          <p:nvPr/>
        </p:nvSpPr>
        <p:spPr>
          <a:xfrm>
            <a:off x="4892040" y="2834640"/>
            <a:ext cx="3794760" cy="27432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13" name="chain 3 bg"/>
          <p:cNvSpPr/>
          <p:nvPr/>
        </p:nvSpPr>
        <p:spPr>
          <a:xfrm>
            <a:off x="4892040" y="3108960"/>
            <a:ext cx="3794760" cy="502920"/>
          </a:xfrm>
          <a:prstGeom prst="roundRect">
            <a:avLst>
              <a:gd name="adj" fmla="val 14545"/>
            </a:avLst>
          </a:prstGeom>
          <a:solidFill>
            <a:schemeClr val="bg2"/>
          </a:solidFill>
          <a:ln w="12700">
            <a:solidFill>
              <a:schemeClr val="bg2"/>
            </a:solidFill>
            <a:prstDash val="solid"/>
          </a:ln>
        </p:spPr>
      </p:sp>
      <p:sp>
        <p:nvSpPr>
          <p:cNvPr id="14" name="chain 3"/>
          <p:cNvSpPr txBox="1"/>
          <p:nvPr/>
        </p:nvSpPr>
        <p:spPr>
          <a:xfrm>
            <a:off x="4892040" y="3108960"/>
            <a:ext cx="379476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blocker (why you cannot submit)</a:t>
            </a:r>
            <a:endParaRPr lang="en-US" sz="1400" dirty="0"/>
          </a:p>
        </p:txBody>
      </p:sp>
      <p:sp>
        <p:nvSpPr>
          <p:cNvPr id="15" name="chain arrow 3"/>
          <p:cNvSpPr txBox="1"/>
          <p:nvPr/>
        </p:nvSpPr>
        <p:spPr>
          <a:xfrm>
            <a:off x="4892040" y="3611880"/>
            <a:ext cx="3794760" cy="27432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16" name="chain 4 bg"/>
          <p:cNvSpPr/>
          <p:nvPr/>
        </p:nvSpPr>
        <p:spPr>
          <a:xfrm>
            <a:off x="4892040" y="3886200"/>
            <a:ext cx="3794760" cy="502920"/>
          </a:xfrm>
          <a:prstGeom prst="roundRect">
            <a:avLst>
              <a:gd name="adj" fmla="val 14545"/>
            </a:avLst>
          </a:prstGeom>
          <a:solidFill>
            <a:schemeClr val="bg2"/>
          </a:solidFill>
          <a:ln w="12700">
            <a:solidFill>
              <a:schemeClr val="bg2"/>
            </a:solidFill>
            <a:prstDash val="solid"/>
          </a:ln>
        </p:spPr>
      </p:sp>
      <p:sp>
        <p:nvSpPr>
          <p:cNvPr id="17" name="chain 4"/>
          <p:cNvSpPr txBox="1"/>
          <p:nvPr/>
        </p:nvSpPr>
        <p:spPr>
          <a:xfrm>
            <a:off x="4892040" y="3886200"/>
            <a:ext cx="379476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button disabled?</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Dependency injection: the problem</a:t>
            </a:r>
            <a:endParaRPr lang="en-US" sz="3200" dirty="0"/>
          </a:p>
        </p:txBody>
      </p:sp>
      <p:sp>
        <p:nvSpPr>
          <p:cNvPr id="4" name="without di bg"/>
          <p:cNvSpPr/>
          <p:nvPr/>
        </p:nvSpPr>
        <p:spPr>
          <a:xfrm>
            <a:off x="457200" y="1143000"/>
            <a:ext cx="4023360" cy="2697480"/>
          </a:xfrm>
          <a:prstGeom prst="roundRect">
            <a:avLst>
              <a:gd name="adj" fmla="val 3390"/>
            </a:avLst>
          </a:prstGeom>
          <a:solidFill>
            <a:schemeClr val="bg2"/>
          </a:solidFill>
          <a:ln w="12700">
            <a:solidFill>
              <a:schemeClr val="bg2"/>
            </a:solidFill>
            <a:prstDash val="solid"/>
          </a:ln>
        </p:spPr>
      </p:sp>
      <p:sp>
        <p:nvSpPr>
          <p:cNvPr id="5" name="without di head"/>
          <p:cNvSpPr txBox="1"/>
          <p:nvPr/>
        </p:nvSpPr>
        <p:spPr>
          <a:xfrm>
            <a:off x="640080" y="1234440"/>
            <a:ext cx="3657600"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Without DI</a:t>
            </a:r>
            <a:endParaRPr lang="en-US" sz="1600" dirty="0"/>
          </a:p>
        </p:txBody>
      </p:sp>
      <p:sp>
        <p:nvSpPr>
          <p:cNvPr id="6" name="without chip 1 bg"/>
          <p:cNvSpPr/>
          <p:nvPr/>
        </p:nvSpPr>
        <p:spPr>
          <a:xfrm>
            <a:off x="640080" y="1691640"/>
            <a:ext cx="3657600" cy="457200"/>
          </a:xfrm>
          <a:prstGeom prst="roundRect">
            <a:avLst>
              <a:gd name="adj" fmla="val 16000"/>
            </a:avLst>
          </a:prstGeom>
          <a:solidFill>
            <a:schemeClr val="bg1"/>
          </a:solidFill>
          <a:ln w="12700">
            <a:solidFill>
              <a:schemeClr val="bg1"/>
            </a:solidFill>
            <a:prstDash val="solid"/>
          </a:ln>
        </p:spPr>
      </p:sp>
      <p:sp>
        <p:nvSpPr>
          <p:cNvPr id="7" name="without chip 1"/>
          <p:cNvSpPr txBox="1"/>
          <p:nvPr/>
        </p:nvSpPr>
        <p:spPr>
          <a:xfrm>
            <a:off x="731520" y="1691640"/>
            <a:ext cx="347472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LoginPage: its own copy (token set)</a:t>
            </a:r>
            <a:endParaRPr lang="en-US" sz="1400" dirty="0"/>
          </a:p>
        </p:txBody>
      </p:sp>
      <p:sp>
        <p:nvSpPr>
          <p:cNvPr id="8" name="without chip 2 bg"/>
          <p:cNvSpPr/>
          <p:nvPr/>
        </p:nvSpPr>
        <p:spPr>
          <a:xfrm>
            <a:off x="640080" y="2240280"/>
            <a:ext cx="3657600" cy="457200"/>
          </a:xfrm>
          <a:prstGeom prst="roundRect">
            <a:avLst>
              <a:gd name="adj" fmla="val 16000"/>
            </a:avLst>
          </a:prstGeom>
          <a:solidFill>
            <a:schemeClr val="bg1"/>
          </a:solidFill>
          <a:ln w="12700">
            <a:solidFill>
              <a:schemeClr val="bg1"/>
            </a:solidFill>
            <a:prstDash val="solid"/>
          </a:ln>
        </p:spPr>
      </p:sp>
      <p:sp>
        <p:nvSpPr>
          <p:cNvPr id="9" name="without chip 2"/>
          <p:cNvSpPr txBox="1"/>
          <p:nvPr/>
        </p:nvSpPr>
        <p:spPr>
          <a:xfrm>
            <a:off x="731520" y="2240280"/>
            <a:ext cx="347472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Guard: its own copy (empty)</a:t>
            </a:r>
            <a:endParaRPr lang="en-US" sz="1400" dirty="0"/>
          </a:p>
        </p:txBody>
      </p:sp>
      <p:sp>
        <p:nvSpPr>
          <p:cNvPr id="10" name="without chip 3 bg"/>
          <p:cNvSpPr/>
          <p:nvPr/>
        </p:nvSpPr>
        <p:spPr>
          <a:xfrm>
            <a:off x="640080" y="2788920"/>
            <a:ext cx="3657600" cy="457200"/>
          </a:xfrm>
          <a:prstGeom prst="roundRect">
            <a:avLst>
              <a:gd name="adj" fmla="val 16000"/>
            </a:avLst>
          </a:prstGeom>
          <a:solidFill>
            <a:schemeClr val="bg1"/>
          </a:solidFill>
          <a:ln w="12700">
            <a:solidFill>
              <a:schemeClr val="bg1"/>
            </a:solidFill>
            <a:prstDash val="solid"/>
          </a:ln>
        </p:spPr>
      </p:sp>
      <p:sp>
        <p:nvSpPr>
          <p:cNvPr id="11" name="without chip 3"/>
          <p:cNvSpPr txBox="1"/>
          <p:nvPr/>
        </p:nvSpPr>
        <p:spPr>
          <a:xfrm>
            <a:off x="731520" y="2788920"/>
            <a:ext cx="347472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Interceptor: its own copy (empty)</a:t>
            </a:r>
            <a:endParaRPr lang="en-US" sz="1400" dirty="0"/>
          </a:p>
        </p:txBody>
      </p:sp>
      <p:sp>
        <p:nvSpPr>
          <p:cNvPr id="12" name="without di caption"/>
          <p:cNvSpPr txBox="1"/>
          <p:nvPr/>
        </p:nvSpPr>
        <p:spPr>
          <a:xfrm>
            <a:off x="640080" y="3337560"/>
            <a:ext cx="3657600" cy="45720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They disagree: the guard sees nobody signed in and bounces the user back to login.</a:t>
            </a:r>
            <a:endParaRPr lang="en-US" sz="1400" dirty="0"/>
          </a:p>
        </p:txBody>
      </p:sp>
      <p:sp>
        <p:nvSpPr>
          <p:cNvPr id="13" name="with di bg"/>
          <p:cNvSpPr/>
          <p:nvPr/>
        </p:nvSpPr>
        <p:spPr>
          <a:xfrm>
            <a:off x="4663440" y="1143000"/>
            <a:ext cx="4023360" cy="2697480"/>
          </a:xfrm>
          <a:prstGeom prst="roundRect">
            <a:avLst>
              <a:gd name="adj" fmla="val 3390"/>
            </a:avLst>
          </a:prstGeom>
          <a:solidFill>
            <a:schemeClr val="tx2"/>
          </a:solidFill>
          <a:ln w="12700">
            <a:solidFill>
              <a:schemeClr val="tx2"/>
            </a:solidFill>
            <a:prstDash val="solid"/>
          </a:ln>
        </p:spPr>
      </p:sp>
      <p:sp>
        <p:nvSpPr>
          <p:cNvPr id="14" name="with di head"/>
          <p:cNvSpPr txBox="1"/>
          <p:nvPr/>
        </p:nvSpPr>
        <p:spPr>
          <a:xfrm>
            <a:off x="4846320" y="1234440"/>
            <a:ext cx="3657600" cy="36576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With DI</a:t>
            </a:r>
            <a:endParaRPr lang="en-US" sz="1600" dirty="0"/>
          </a:p>
        </p:txBody>
      </p:sp>
      <p:sp>
        <p:nvSpPr>
          <p:cNvPr id="15" name="shared store bg"/>
          <p:cNvSpPr/>
          <p:nvPr/>
        </p:nvSpPr>
        <p:spPr>
          <a:xfrm>
            <a:off x="4846320" y="1691640"/>
            <a:ext cx="3657600" cy="640080"/>
          </a:xfrm>
          <a:prstGeom prst="roundRect">
            <a:avLst>
              <a:gd name="adj" fmla="val 11429"/>
            </a:avLst>
          </a:prstGeom>
          <a:solidFill>
            <a:schemeClr val="accent2"/>
          </a:solidFill>
          <a:ln w="12700">
            <a:solidFill>
              <a:schemeClr val="accent2"/>
            </a:solidFill>
            <a:prstDash val="solid"/>
          </a:ln>
        </p:spPr>
      </p:sp>
      <p:sp>
        <p:nvSpPr>
          <p:cNvPr id="16" name="shared store"/>
          <p:cNvSpPr txBox="1"/>
          <p:nvPr/>
        </p:nvSpPr>
        <p:spPr>
          <a:xfrm>
            <a:off x="4846320" y="1691640"/>
            <a:ext cx="365760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SessionStore: one shared instance</a:t>
            </a:r>
            <a:endParaRPr lang="en-US" sz="1400" dirty="0"/>
          </a:p>
        </p:txBody>
      </p:sp>
      <p:sp>
        <p:nvSpPr>
          <p:cNvPr id="17" name="inject arrow"/>
          <p:cNvSpPr txBox="1"/>
          <p:nvPr/>
        </p:nvSpPr>
        <p:spPr>
          <a:xfrm>
            <a:off x="4846320" y="2377440"/>
            <a:ext cx="3657600" cy="320040"/>
          </a:xfrm>
          <a:prstGeom prst="rect">
            <a:avLst/>
          </a:prstGeom>
          <a:noFill/>
          <a:ln/>
        </p:spPr>
        <p:txBody>
          <a:bodyPr wrap="square" lIns="0" tIns="0" rIns="0" bIns="0" rtlCol="0" anchor="ctr"/>
          <a:lstStyle/>
          <a:p>
            <a:pPr algn="ctr" indent="0" marL="0">
              <a:buNone/>
            </a:pPr>
            <a:r>
              <a:rPr lang="en-US" sz="1200" dirty="0">
                <a:solidFill>
                  <a:schemeClr val="accent4"/>
                </a:solidFill>
                <a:latin typeface="Courier New" pitchFamily="34" charset="0"/>
                <a:ea typeface="Courier New" pitchFamily="34" charset="-122"/>
                <a:cs typeface="Courier New" pitchFamily="34" charset="-120"/>
              </a:rPr>
              <a:t>▲  inject(SessionStore)  ▲</a:t>
            </a:r>
            <a:endParaRPr lang="en-US" sz="1200" dirty="0"/>
          </a:p>
        </p:txBody>
      </p:sp>
      <p:sp>
        <p:nvSpPr>
          <p:cNvPr id="18" name="with chip 1 bg"/>
          <p:cNvSpPr/>
          <p:nvPr/>
        </p:nvSpPr>
        <p:spPr>
          <a:xfrm>
            <a:off x="4846320" y="2743200"/>
            <a:ext cx="1152144" cy="457200"/>
          </a:xfrm>
          <a:prstGeom prst="roundRect">
            <a:avLst>
              <a:gd name="adj" fmla="val 16000"/>
            </a:avLst>
          </a:prstGeom>
          <a:solidFill>
            <a:schemeClr val="bg1"/>
          </a:solidFill>
          <a:ln w="12700">
            <a:solidFill>
              <a:schemeClr val="bg1"/>
            </a:solidFill>
            <a:prstDash val="solid"/>
          </a:ln>
        </p:spPr>
      </p:sp>
      <p:sp>
        <p:nvSpPr>
          <p:cNvPr id="19" name="with chip 1"/>
          <p:cNvSpPr txBox="1"/>
          <p:nvPr/>
        </p:nvSpPr>
        <p:spPr>
          <a:xfrm>
            <a:off x="4846320" y="2743200"/>
            <a:ext cx="1152144" cy="457200"/>
          </a:xfrm>
          <a:prstGeom prst="rect">
            <a:avLst/>
          </a:prstGeom>
          <a:noFill/>
          <a:ln/>
        </p:spPr>
        <p:txBody>
          <a:bodyPr wrap="square" lIns="0" tIns="0" rIns="0" bIns="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LoginPage</a:t>
            </a:r>
            <a:endParaRPr lang="en-US" sz="1300" dirty="0"/>
          </a:p>
        </p:txBody>
      </p:sp>
      <p:sp>
        <p:nvSpPr>
          <p:cNvPr id="20" name="with chip 2 bg"/>
          <p:cNvSpPr/>
          <p:nvPr/>
        </p:nvSpPr>
        <p:spPr>
          <a:xfrm>
            <a:off x="6099048" y="2743200"/>
            <a:ext cx="1152144" cy="457200"/>
          </a:xfrm>
          <a:prstGeom prst="roundRect">
            <a:avLst>
              <a:gd name="adj" fmla="val 16000"/>
            </a:avLst>
          </a:prstGeom>
          <a:solidFill>
            <a:schemeClr val="bg1"/>
          </a:solidFill>
          <a:ln w="12700">
            <a:solidFill>
              <a:schemeClr val="bg1"/>
            </a:solidFill>
            <a:prstDash val="solid"/>
          </a:ln>
        </p:spPr>
      </p:sp>
      <p:sp>
        <p:nvSpPr>
          <p:cNvPr id="21" name="with chip 2"/>
          <p:cNvSpPr txBox="1"/>
          <p:nvPr/>
        </p:nvSpPr>
        <p:spPr>
          <a:xfrm>
            <a:off x="6099048" y="2743200"/>
            <a:ext cx="1152144" cy="457200"/>
          </a:xfrm>
          <a:prstGeom prst="rect">
            <a:avLst/>
          </a:prstGeom>
          <a:noFill/>
          <a:ln/>
        </p:spPr>
        <p:txBody>
          <a:bodyPr wrap="square" lIns="0" tIns="0" rIns="0" bIns="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Guard</a:t>
            </a:r>
            <a:endParaRPr lang="en-US" sz="1300" dirty="0"/>
          </a:p>
        </p:txBody>
      </p:sp>
      <p:sp>
        <p:nvSpPr>
          <p:cNvPr id="22" name="with chip 3 bg"/>
          <p:cNvSpPr/>
          <p:nvPr/>
        </p:nvSpPr>
        <p:spPr>
          <a:xfrm>
            <a:off x="7351776" y="2743200"/>
            <a:ext cx="1152144" cy="457200"/>
          </a:xfrm>
          <a:prstGeom prst="roundRect">
            <a:avLst>
              <a:gd name="adj" fmla="val 16000"/>
            </a:avLst>
          </a:prstGeom>
          <a:solidFill>
            <a:schemeClr val="bg1"/>
          </a:solidFill>
          <a:ln w="12700">
            <a:solidFill>
              <a:schemeClr val="bg1"/>
            </a:solidFill>
            <a:prstDash val="solid"/>
          </a:ln>
        </p:spPr>
      </p:sp>
      <p:sp>
        <p:nvSpPr>
          <p:cNvPr id="23" name="with chip 3"/>
          <p:cNvSpPr txBox="1"/>
          <p:nvPr/>
        </p:nvSpPr>
        <p:spPr>
          <a:xfrm>
            <a:off x="7351776" y="2743200"/>
            <a:ext cx="1152144" cy="457200"/>
          </a:xfrm>
          <a:prstGeom prst="rect">
            <a:avLst/>
          </a:prstGeom>
          <a:noFill/>
          <a:ln/>
        </p:spPr>
        <p:txBody>
          <a:bodyPr wrap="square" lIns="0" tIns="0" rIns="0" bIns="0" rtlCol="0" anchor="ctr"/>
          <a:lstStyle/>
          <a:p>
            <a:pPr algn="ctr" indent="0" marL="0">
              <a:buNone/>
            </a:pPr>
            <a:r>
              <a:rPr lang="en-US" sz="1300" dirty="0">
                <a:solidFill>
                  <a:schemeClr val="tx1"/>
                </a:solidFill>
                <a:latin typeface="Calibri" pitchFamily="34" charset="0"/>
                <a:ea typeface="Calibri" pitchFamily="34" charset="-122"/>
                <a:cs typeface="Calibri" pitchFamily="34" charset="-120"/>
              </a:rPr>
              <a:t>Interceptor</a:t>
            </a:r>
            <a:endParaRPr lang="en-US" sz="1300" dirty="0"/>
          </a:p>
        </p:txBody>
      </p:sp>
      <p:sp>
        <p:nvSpPr>
          <p:cNvPr id="24" name="with di caption"/>
          <p:cNvSpPr txBox="1"/>
          <p:nvPr/>
        </p:nvSpPr>
        <p:spPr>
          <a:xfrm>
            <a:off x="4846320" y="3337560"/>
            <a:ext cx="3657600" cy="457200"/>
          </a:xfrm>
          <a:prstGeom prst="rect">
            <a:avLst/>
          </a:prstGeom>
          <a:noFill/>
          <a:ln/>
        </p:spPr>
        <p:txBody>
          <a:bodyPr wrap="square" lIns="0" tIns="0" rIns="0" bIns="0" rtlCol="0" anchor="t"/>
          <a:lstStyle/>
          <a:p>
            <a:pPr indent="0" marL="0">
              <a:buNone/>
            </a:pPr>
            <a:r>
              <a:rPr lang="en-US" sz="1400" i="1" dirty="0">
                <a:solidFill>
                  <a:schemeClr val="bg1"/>
                </a:solidFill>
                <a:latin typeface="Calibri" pitchFamily="34" charset="0"/>
                <a:ea typeface="Calibri" pitchFamily="34" charset="-122"/>
                <a:cs typeface="Calibri" pitchFamily="34" charset="-120"/>
              </a:rPr>
              <a:t>Every class asks, and every class gets the same object.</a:t>
            </a:r>
            <a:endParaRPr lang="en-US" sz="1400" dirty="0"/>
          </a:p>
        </p:txBody>
      </p:sp>
      <p:sp>
        <p:nvSpPr>
          <p:cNvPr id="25" name="analogy bg"/>
          <p:cNvSpPr/>
          <p:nvPr/>
        </p:nvSpPr>
        <p:spPr>
          <a:xfrm>
            <a:off x="457200" y="4023360"/>
            <a:ext cx="8229600" cy="640080"/>
          </a:xfrm>
          <a:prstGeom prst="roundRect">
            <a:avLst>
              <a:gd name="adj" fmla="val 11429"/>
            </a:avLst>
          </a:prstGeom>
          <a:solidFill>
            <a:schemeClr val="bg2"/>
          </a:solidFill>
          <a:ln w="12700">
            <a:solidFill>
              <a:schemeClr val="bg2"/>
            </a:solidFill>
            <a:prstDash val="solid"/>
          </a:ln>
        </p:spPr>
      </p:sp>
      <p:sp>
        <p:nvSpPr>
          <p:cNvPr id="26" name="analogy"/>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Analogy: </a:t>
            </a:r>
            <a:pPr indent="0" marL="0">
              <a:buNone/>
            </a:pPr>
            <a:r>
              <a:rPr lang="en-US" sz="1400" dirty="0">
                <a:solidFill>
                  <a:schemeClr val="tx1"/>
                </a:solidFill>
                <a:latin typeface="Calibri" pitchFamily="34" charset="0"/>
                <a:ea typeface="Calibri" pitchFamily="34" charset="-122"/>
                <a:cs typeface="Calibri" pitchFamily="34" charset="-120"/>
              </a:rPr>
              <a:t>one shared recipe book in a kitchen. You ask the waiter for it; you don't buy your own copy.</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Dependency injection: the two lines</a:t>
            </a:r>
            <a:endParaRPr lang="en-US" sz="3200" dirty="0"/>
          </a:p>
        </p:txBody>
      </p:sp>
      <p:sp>
        <p:nvSpPr>
          <p:cNvPr id="4" name="declare code bg"/>
          <p:cNvSpPr/>
          <p:nvPr/>
        </p:nvSpPr>
        <p:spPr>
          <a:xfrm>
            <a:off x="457200" y="1143000"/>
            <a:ext cx="4206240" cy="1051560"/>
          </a:xfrm>
          <a:prstGeom prst="roundRect">
            <a:avLst>
              <a:gd name="adj" fmla="val 6957"/>
            </a:avLst>
          </a:prstGeom>
          <a:solidFill>
            <a:schemeClr val="tx1"/>
          </a:solidFill>
          <a:ln w="12700">
            <a:solidFill>
              <a:schemeClr val="tx1"/>
            </a:solidFill>
            <a:prstDash val="solid"/>
          </a:ln>
        </p:spPr>
      </p:sp>
      <p:sp>
        <p:nvSpPr>
          <p:cNvPr id="5" name="declare code"/>
          <p:cNvSpPr txBox="1"/>
          <p:nvPr/>
        </p:nvSpPr>
        <p:spPr>
          <a:xfrm>
            <a:off x="594360" y="1234440"/>
            <a:ext cx="3931920" cy="86868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@Injectable({ providedIn: 'root'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export class SessionStore { ... }</a:t>
            </a:r>
            <a:endParaRPr lang="en-US" sz="1200" dirty="0"/>
          </a:p>
        </p:txBody>
      </p:sp>
      <p:sp>
        <p:nvSpPr>
          <p:cNvPr id="6" name="declare caption"/>
          <p:cNvSpPr txBox="1"/>
          <p:nvPr/>
        </p:nvSpPr>
        <p:spPr>
          <a:xfrm>
            <a:off x="457200" y="2286000"/>
            <a:ext cx="4206240" cy="82296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1. Declare. </a:t>
            </a:r>
            <a:pPr indent="0" marL="0">
              <a:buNone/>
            </a:pPr>
            <a:r>
              <a:rPr lang="en-US" sz="1400" dirty="0">
                <a:solidFill>
                  <a:schemeClr val="tx1"/>
                </a:solidFill>
                <a:latin typeface="Calibri" pitchFamily="34" charset="0"/>
                <a:ea typeface="Calibri" pitchFamily="34" charset="-122"/>
                <a:cs typeface="Calibri" pitchFamily="34" charset="-120"/>
              </a:rPr>
              <a:t>Angular may create and hand out this class, as one instance for the whole app.</a:t>
            </a:r>
            <a:endParaRPr lang="en-US" sz="1400" dirty="0"/>
          </a:p>
        </p:txBody>
      </p:sp>
      <p:sp>
        <p:nvSpPr>
          <p:cNvPr id="7" name="ask code bg"/>
          <p:cNvSpPr/>
          <p:nvPr/>
        </p:nvSpPr>
        <p:spPr>
          <a:xfrm>
            <a:off x="457200" y="3154680"/>
            <a:ext cx="4206240" cy="777240"/>
          </a:xfrm>
          <a:prstGeom prst="roundRect">
            <a:avLst>
              <a:gd name="adj" fmla="val 9412"/>
            </a:avLst>
          </a:prstGeom>
          <a:solidFill>
            <a:schemeClr val="tx1"/>
          </a:solidFill>
          <a:ln w="12700">
            <a:solidFill>
              <a:schemeClr val="tx1"/>
            </a:solidFill>
            <a:prstDash val="solid"/>
          </a:ln>
        </p:spPr>
      </p:sp>
      <p:sp>
        <p:nvSpPr>
          <p:cNvPr id="8" name="ask code"/>
          <p:cNvSpPr txBox="1"/>
          <p:nvPr/>
        </p:nvSpPr>
        <p:spPr>
          <a:xfrm>
            <a:off x="594360" y="3246120"/>
            <a:ext cx="3931920" cy="5943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private readonly session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inject(SessionStore);</a:t>
            </a:r>
            <a:endParaRPr lang="en-US" sz="1200" dirty="0"/>
          </a:p>
        </p:txBody>
      </p:sp>
      <p:sp>
        <p:nvSpPr>
          <p:cNvPr id="9" name="ask caption"/>
          <p:cNvSpPr txBox="1"/>
          <p:nvPr/>
        </p:nvSpPr>
        <p:spPr>
          <a:xfrm>
            <a:off x="457200" y="4023360"/>
            <a:ext cx="4206240" cy="64008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2. Ask. </a:t>
            </a:r>
            <a:pPr indent="0" marL="0">
              <a:buNone/>
            </a:pPr>
            <a:r>
              <a:rPr lang="en-US" sz="1400" dirty="0">
                <a:solidFill>
                  <a:schemeClr val="tx1"/>
                </a:solidFill>
                <a:latin typeface="Calibri" pitchFamily="34" charset="0"/>
                <a:ea typeface="Calibri" pitchFamily="34" charset="-122"/>
                <a:cs typeface="Calibri" pitchFamily="34" charset="-120"/>
              </a:rPr>
              <a:t>Everyone who writes this gets the same object.</a:t>
            </a:r>
            <a:endParaRPr lang="en-US" sz="1400" dirty="0"/>
          </a:p>
        </p:txBody>
      </p:sp>
      <p:sp>
        <p:nvSpPr>
          <p:cNvPr id="10" name="signin head"/>
          <p:cNvSpPr txBox="1"/>
          <p:nvPr/>
        </p:nvSpPr>
        <p:spPr>
          <a:xfrm>
            <a:off x="4892040" y="1143000"/>
            <a:ext cx="3794760" cy="32004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What happens at sign-in</a:t>
            </a:r>
            <a:endParaRPr lang="en-US" sz="1500" dirty="0"/>
          </a:p>
        </p:txBody>
      </p:sp>
      <p:sp>
        <p:nvSpPr>
          <p:cNvPr id="11" name="signin 1 bg"/>
          <p:cNvSpPr/>
          <p:nvPr/>
        </p:nvSpPr>
        <p:spPr>
          <a:xfrm>
            <a:off x="4892040" y="1554480"/>
            <a:ext cx="3794760" cy="658368"/>
          </a:xfrm>
          <a:prstGeom prst="roundRect">
            <a:avLst>
              <a:gd name="adj" fmla="val 11111"/>
            </a:avLst>
          </a:prstGeom>
          <a:solidFill>
            <a:schemeClr val="bg2"/>
          </a:solidFill>
          <a:ln w="12700">
            <a:solidFill>
              <a:schemeClr val="bg2"/>
            </a:solidFill>
            <a:prstDash val="solid"/>
          </a:ln>
        </p:spPr>
      </p:sp>
      <p:sp>
        <p:nvSpPr>
          <p:cNvPr id="12" name="signin 1 dot"/>
          <p:cNvSpPr/>
          <p:nvPr/>
        </p:nvSpPr>
        <p:spPr>
          <a:xfrm>
            <a:off x="5001768" y="1700784"/>
            <a:ext cx="365760" cy="365760"/>
          </a:xfrm>
          <a:prstGeom prst="ellipse">
            <a:avLst/>
          </a:prstGeom>
          <a:solidFill>
            <a:schemeClr val="accent2"/>
          </a:solidFill>
          <a:ln w="12700">
            <a:solidFill>
              <a:schemeClr val="accent2"/>
            </a:solidFill>
            <a:prstDash val="solid"/>
          </a:ln>
        </p:spPr>
      </p:sp>
      <p:sp>
        <p:nvSpPr>
          <p:cNvPr id="13" name="signin 1 dot label"/>
          <p:cNvSpPr txBox="1"/>
          <p:nvPr/>
        </p:nvSpPr>
        <p:spPr>
          <a:xfrm>
            <a:off x="5001768" y="170078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4" name="signin 1 text"/>
          <p:cNvSpPr txBox="1"/>
          <p:nvPr/>
        </p:nvSpPr>
        <p:spPr>
          <a:xfrm>
            <a:off x="5486400" y="1554480"/>
            <a:ext cx="3108960" cy="65836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LoginPage calls session.signIn(...)</a:t>
            </a:r>
            <a:endParaRPr lang="en-US" sz="1400" dirty="0"/>
          </a:p>
        </p:txBody>
      </p:sp>
      <p:sp>
        <p:nvSpPr>
          <p:cNvPr id="15" name="signin 2 bg"/>
          <p:cNvSpPr/>
          <p:nvPr/>
        </p:nvSpPr>
        <p:spPr>
          <a:xfrm>
            <a:off x="4892040" y="2331720"/>
            <a:ext cx="3794760" cy="658368"/>
          </a:xfrm>
          <a:prstGeom prst="roundRect">
            <a:avLst>
              <a:gd name="adj" fmla="val 11111"/>
            </a:avLst>
          </a:prstGeom>
          <a:solidFill>
            <a:schemeClr val="bg2"/>
          </a:solidFill>
          <a:ln w="12700">
            <a:solidFill>
              <a:schemeClr val="bg2"/>
            </a:solidFill>
            <a:prstDash val="solid"/>
          </a:ln>
        </p:spPr>
      </p:sp>
      <p:sp>
        <p:nvSpPr>
          <p:cNvPr id="16" name="signin 2 dot"/>
          <p:cNvSpPr/>
          <p:nvPr/>
        </p:nvSpPr>
        <p:spPr>
          <a:xfrm>
            <a:off x="5001768" y="2478024"/>
            <a:ext cx="365760" cy="365760"/>
          </a:xfrm>
          <a:prstGeom prst="ellipse">
            <a:avLst/>
          </a:prstGeom>
          <a:solidFill>
            <a:schemeClr val="accent2"/>
          </a:solidFill>
          <a:ln w="12700">
            <a:solidFill>
              <a:schemeClr val="accent2"/>
            </a:solidFill>
            <a:prstDash val="solid"/>
          </a:ln>
        </p:spPr>
      </p:sp>
      <p:sp>
        <p:nvSpPr>
          <p:cNvPr id="17" name="signin 2 dot label"/>
          <p:cNvSpPr txBox="1"/>
          <p:nvPr/>
        </p:nvSpPr>
        <p:spPr>
          <a:xfrm>
            <a:off x="5001768" y="247802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8" name="signin 2 text"/>
          <p:cNvSpPr txBox="1"/>
          <p:nvPr/>
        </p:nvSpPr>
        <p:spPr>
          <a:xfrm>
            <a:off x="5486400" y="2331720"/>
            <a:ext cx="3108960" cy="65836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Guard sees isSignedIn() is true at once</a:t>
            </a:r>
            <a:endParaRPr lang="en-US" sz="1400" dirty="0"/>
          </a:p>
        </p:txBody>
      </p:sp>
      <p:sp>
        <p:nvSpPr>
          <p:cNvPr id="19" name="signin 3 bg"/>
          <p:cNvSpPr/>
          <p:nvPr/>
        </p:nvSpPr>
        <p:spPr>
          <a:xfrm>
            <a:off x="4892040" y="3108960"/>
            <a:ext cx="3794760" cy="658368"/>
          </a:xfrm>
          <a:prstGeom prst="roundRect">
            <a:avLst>
              <a:gd name="adj" fmla="val 11111"/>
            </a:avLst>
          </a:prstGeom>
          <a:solidFill>
            <a:schemeClr val="bg2"/>
          </a:solidFill>
          <a:ln w="12700">
            <a:solidFill>
              <a:schemeClr val="bg2"/>
            </a:solidFill>
            <a:prstDash val="solid"/>
          </a:ln>
        </p:spPr>
      </p:sp>
      <p:sp>
        <p:nvSpPr>
          <p:cNvPr id="20" name="signin 3 dot"/>
          <p:cNvSpPr/>
          <p:nvPr/>
        </p:nvSpPr>
        <p:spPr>
          <a:xfrm>
            <a:off x="5001768" y="3255264"/>
            <a:ext cx="365760" cy="365760"/>
          </a:xfrm>
          <a:prstGeom prst="ellipse">
            <a:avLst/>
          </a:prstGeom>
          <a:solidFill>
            <a:schemeClr val="accent2"/>
          </a:solidFill>
          <a:ln w="12700">
            <a:solidFill>
              <a:schemeClr val="accent2"/>
            </a:solidFill>
            <a:prstDash val="solid"/>
          </a:ln>
        </p:spPr>
      </p:sp>
      <p:sp>
        <p:nvSpPr>
          <p:cNvPr id="21" name="signin 3 dot label"/>
          <p:cNvSpPr txBox="1"/>
          <p:nvPr/>
        </p:nvSpPr>
        <p:spPr>
          <a:xfrm>
            <a:off x="5001768" y="32552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22" name="signin 3 text"/>
          <p:cNvSpPr txBox="1"/>
          <p:nvPr/>
        </p:nvSpPr>
        <p:spPr>
          <a:xfrm>
            <a:off x="5486400" y="3108960"/>
            <a:ext cx="3108960" cy="65836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Interceptor reads the token for the next request</a:t>
            </a:r>
            <a:endParaRPr lang="en-US" sz="1400" dirty="0"/>
          </a:p>
        </p:txBody>
      </p:sp>
      <p:sp>
        <p:nvSpPr>
          <p:cNvPr id="23" name="signin 4 bg"/>
          <p:cNvSpPr/>
          <p:nvPr/>
        </p:nvSpPr>
        <p:spPr>
          <a:xfrm>
            <a:off x="4892040" y="3886200"/>
            <a:ext cx="3794760" cy="658368"/>
          </a:xfrm>
          <a:prstGeom prst="roundRect">
            <a:avLst>
              <a:gd name="adj" fmla="val 11111"/>
            </a:avLst>
          </a:prstGeom>
          <a:solidFill>
            <a:schemeClr val="bg2"/>
          </a:solidFill>
          <a:ln w="12700">
            <a:solidFill>
              <a:schemeClr val="bg2"/>
            </a:solidFill>
            <a:prstDash val="solid"/>
          </a:ln>
        </p:spPr>
      </p:sp>
      <p:sp>
        <p:nvSpPr>
          <p:cNvPr id="24" name="signin 4 dot"/>
          <p:cNvSpPr/>
          <p:nvPr/>
        </p:nvSpPr>
        <p:spPr>
          <a:xfrm>
            <a:off x="5001768" y="4032504"/>
            <a:ext cx="365760" cy="365760"/>
          </a:xfrm>
          <a:prstGeom prst="ellipse">
            <a:avLst/>
          </a:prstGeom>
          <a:solidFill>
            <a:schemeClr val="accent2"/>
          </a:solidFill>
          <a:ln w="12700">
            <a:solidFill>
              <a:schemeClr val="accent2"/>
            </a:solidFill>
            <a:prstDash val="solid"/>
          </a:ln>
        </p:spPr>
      </p:sp>
      <p:sp>
        <p:nvSpPr>
          <p:cNvPr id="25" name="signin 4 dot label"/>
          <p:cNvSpPr txBox="1"/>
          <p:nvPr/>
        </p:nvSpPr>
        <p:spPr>
          <a:xfrm>
            <a:off x="5001768" y="403250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6" name="signin 4 text"/>
          <p:cNvSpPr txBox="1"/>
          <p:nvPr/>
        </p:nvSpPr>
        <p:spPr>
          <a:xfrm>
            <a:off x="5486400" y="3886200"/>
            <a:ext cx="3108960" cy="65836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Shell's effect starts profile and notifications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a store is</a:t>
            </a:r>
            <a:endParaRPr lang="en-US" sz="3200" dirty="0"/>
          </a:p>
        </p:txBody>
      </p:sp>
      <p:sp>
        <p:nvSpPr>
          <p:cNvPr id="4" name="store code bg"/>
          <p:cNvSpPr/>
          <p:nvPr/>
        </p:nvSpPr>
        <p:spPr>
          <a:xfrm>
            <a:off x="457200" y="1143000"/>
            <a:ext cx="4023360" cy="2148840"/>
          </a:xfrm>
          <a:prstGeom prst="roundRect">
            <a:avLst>
              <a:gd name="adj" fmla="val 3404"/>
            </a:avLst>
          </a:prstGeom>
          <a:solidFill>
            <a:schemeClr val="tx1"/>
          </a:solidFill>
          <a:ln w="12700">
            <a:solidFill>
              <a:schemeClr val="tx1"/>
            </a:solidFill>
            <a:prstDash val="solid"/>
          </a:ln>
        </p:spPr>
      </p:sp>
      <p:sp>
        <p:nvSpPr>
          <p:cNvPr id="5" name="store code"/>
          <p:cNvSpPr txBox="1"/>
          <p:nvPr/>
        </p:nvSpPr>
        <p:spPr>
          <a:xfrm>
            <a:off x="594360" y="1234440"/>
            <a:ext cx="3749040" cy="196596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 private: only the store sets it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private readonly token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signal&lt;string | null&gt;(null);</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public: anyone may read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readonly isSignedIn = computed(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=&gt; this.token() !== null);</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the only ways to change it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signIn(...)   signOut()</a:t>
            </a:r>
            <a:endParaRPr lang="en-US" sz="1200" dirty="0"/>
          </a:p>
        </p:txBody>
      </p:sp>
      <p:sp>
        <p:nvSpPr>
          <p:cNvPr id="6" name="store caption"/>
          <p:cNvSpPr txBox="1"/>
          <p:nvPr/>
        </p:nvSpPr>
        <p:spPr>
          <a:xfrm>
            <a:off x="457200" y="3429000"/>
            <a:ext cx="4023360" cy="11887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 store holds state in signals and exposes methods. </a:t>
            </a:r>
            <a:pPr indent="0" marL="0">
              <a:buNone/>
            </a:pPr>
            <a:r>
              <a:rPr lang="en-US" sz="1400" dirty="0">
                <a:solidFill>
                  <a:schemeClr val="tx1"/>
                </a:solidFill>
                <a:latin typeface="Calibri" pitchFamily="34" charset="0"/>
                <a:ea typeface="Calibri" pitchFamily="34" charset="-122"/>
                <a:cs typeface="Calibri" pitchFamily="34" charset="-120"/>
              </a:rPr>
              <a:t>All the rules, like saving to localStorage, live in one place.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09160" y="1143000"/>
          <a:ext cx="3977640" cy="914400"/>
        </p:xfrm>
        <a:graphic>
          <a:graphicData uri="http://schemas.openxmlformats.org/drawingml/2006/table">
            <a:tbl>
              <a:tblPr/>
              <a:tblGrid>
                <a:gridCol w="1874520"/>
                <a:gridCol w="2103120"/>
              </a:tblGrid>
              <a:tr h="43891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Store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Remembers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438912">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SessionStore</a:t>
                      </a:r>
                      <a:endParaRPr lang="en-US" sz="11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Tokens, accountId</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UserProfileStore</a:t>
                      </a:r>
                      <a:endParaRPr lang="en-US" sz="11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Name, email, phone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NotificationStore</a:t>
                      </a:r>
                      <a:endParaRPr lang="en-US" sz="11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Bell list, toasts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ThemeService</a:t>
                      </a:r>
                      <a:endParaRPr lang="en-US" sz="11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Light or dark</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38912">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ReturnUrlStore</a:t>
                      </a:r>
                      <a:endParaRPr lang="en-US" sz="1100" dirty="0">
                        <a:latin typeface="Courier New" charset="0"/>
                        <a:ea typeface="Courier New" charset="0"/>
                        <a:cs typeface="Courier New"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Page you were heading to</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8" name="stores footnote"/>
          <p:cNvSpPr txBox="1"/>
          <p:nvPr/>
        </p:nvSpPr>
        <p:spPr>
          <a:xfrm>
            <a:off x="4709160" y="4023360"/>
            <a:ext cx="3977640" cy="59436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The session drives everything: Shell watches it to start or stop loading.</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InjectionToken and the inject() rule</a:t>
            </a:r>
            <a:endParaRPr lang="en-US" sz="3200" dirty="0"/>
          </a:p>
        </p:txBody>
      </p:sp>
      <p:sp>
        <p:nvSpPr>
          <p:cNvPr id="4" name="token code bg"/>
          <p:cNvSpPr/>
          <p:nvPr/>
        </p:nvSpPr>
        <p:spPr>
          <a:xfrm>
            <a:off x="457200" y="1143000"/>
            <a:ext cx="4023360" cy="2240280"/>
          </a:xfrm>
          <a:prstGeom prst="roundRect">
            <a:avLst>
              <a:gd name="adj" fmla="val 3265"/>
            </a:avLst>
          </a:prstGeom>
          <a:solidFill>
            <a:schemeClr val="tx1"/>
          </a:solidFill>
          <a:ln w="12700">
            <a:solidFill>
              <a:schemeClr val="tx1"/>
            </a:solidFill>
            <a:prstDash val="solid"/>
          </a:ln>
        </p:spPr>
      </p:sp>
      <p:sp>
        <p:nvSpPr>
          <p:cNvPr id="5" name="token code"/>
          <p:cNvSpPr txBox="1"/>
          <p:nvPr/>
        </p:nvSpPr>
        <p:spPr>
          <a:xfrm>
            <a:off x="594360" y="1234440"/>
            <a:ext cx="3749040" cy="20574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export const LOCAL_STORAGE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new InjectionToken&lt;Storage&gt;(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'Storage for sessions',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factory: () =&gt;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localStorage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 inside SessionStore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store = inject(LOCAL_STORAGE);</a:t>
            </a:r>
            <a:endParaRPr lang="en-US" sz="1200" dirty="0"/>
          </a:p>
        </p:txBody>
      </p:sp>
      <p:sp>
        <p:nvSpPr>
          <p:cNvPr id="6" name="say review bg"/>
          <p:cNvSpPr/>
          <p:nvPr/>
        </p:nvSpPr>
        <p:spPr>
          <a:xfrm>
            <a:off x="457200" y="3520440"/>
            <a:ext cx="4023360" cy="1143000"/>
          </a:xfrm>
          <a:prstGeom prst="roundRect">
            <a:avLst>
              <a:gd name="adj" fmla="val 8000"/>
            </a:avLst>
          </a:prstGeom>
          <a:solidFill>
            <a:schemeClr val="tx2"/>
          </a:solidFill>
          <a:ln w="12700">
            <a:solidFill>
              <a:schemeClr val="tx2"/>
            </a:solidFill>
            <a:prstDash val="solid"/>
          </a:ln>
        </p:spPr>
      </p:sp>
      <p:sp>
        <p:nvSpPr>
          <p:cNvPr id="7" name="say review"/>
          <p:cNvSpPr txBox="1"/>
          <p:nvPr/>
        </p:nvSpPr>
        <p:spPr>
          <a:xfrm>
            <a:off x="594360" y="3584448"/>
            <a:ext cx="3749040" cy="1024128"/>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Say this in the review</a:t>
            </a:r>
            <a:endParaRPr lang="en-US" sz="1500" dirty="0"/>
          </a:p>
          <a:p>
            <a:pPr indent="0" marL="0">
              <a:buNone/>
            </a:pPr>
            <a:r>
              <a:rPr lang="en-US" sz="1400" dirty="0">
                <a:solidFill>
                  <a:schemeClr val="bg1"/>
                </a:solidFill>
                <a:latin typeface="Calibri" pitchFamily="34" charset="0"/>
                <a:ea typeface="Calibri" pitchFamily="34" charset="-122"/>
                <a:cs typeface="Calibri" pitchFamily="34" charset="-120"/>
              </a:rPr>
              <a:t>Shared state lives in root-provided stores, got with inject(). Storage and timers come in through InjectionTokens so tests can replace them.</a:t>
            </a:r>
            <a:endParaRPr lang="en-US" sz="1500" dirty="0"/>
          </a:p>
        </p:txBody>
      </p:sp>
      <p:sp>
        <p:nvSpPr>
          <p:cNvPr id="8" name="token tests bg"/>
          <p:cNvSpPr/>
          <p:nvPr/>
        </p:nvSpPr>
        <p:spPr>
          <a:xfrm>
            <a:off x="4663440" y="1143000"/>
            <a:ext cx="4023360" cy="1097280"/>
          </a:xfrm>
          <a:prstGeom prst="roundRect">
            <a:avLst>
              <a:gd name="adj" fmla="val 8333"/>
            </a:avLst>
          </a:prstGeom>
          <a:solidFill>
            <a:schemeClr val="bg2"/>
          </a:solidFill>
          <a:ln w="12700">
            <a:solidFill>
              <a:schemeClr val="bg2"/>
            </a:solidFill>
            <a:prstDash val="solid"/>
          </a:ln>
        </p:spPr>
      </p:sp>
      <p:sp>
        <p:nvSpPr>
          <p:cNvPr id="9" name="token tests head"/>
          <p:cNvSpPr txBox="1"/>
          <p:nvPr/>
        </p:nvSpPr>
        <p:spPr>
          <a:xfrm>
            <a:off x="4846320" y="1252728"/>
            <a:ext cx="3657600" cy="36576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A named slot</a:t>
            </a:r>
            <a:endParaRPr lang="en-US" sz="1500" dirty="0"/>
          </a:p>
        </p:txBody>
      </p:sp>
      <p:sp>
        <p:nvSpPr>
          <p:cNvPr id="10" name="token tests body"/>
          <p:cNvSpPr txBox="1"/>
          <p:nvPr/>
        </p:nvSpPr>
        <p:spPr>
          <a:xfrm>
            <a:off x="4846320" y="1645920"/>
            <a:ext cx="36576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a class? Name a slot. Production fills it with real localStorage; tests use a fake.</a:t>
            </a:r>
            <a:endParaRPr lang="en-US" sz="1400" dirty="0"/>
          </a:p>
        </p:txBody>
      </p:sp>
      <p:sp>
        <p:nvSpPr>
          <p:cNvPr id="11" name="token same bg"/>
          <p:cNvSpPr/>
          <p:nvPr/>
        </p:nvSpPr>
        <p:spPr>
          <a:xfrm>
            <a:off x="4663440" y="2377440"/>
            <a:ext cx="4023360" cy="1097280"/>
          </a:xfrm>
          <a:prstGeom prst="roundRect">
            <a:avLst>
              <a:gd name="adj" fmla="val 8333"/>
            </a:avLst>
          </a:prstGeom>
          <a:solidFill>
            <a:schemeClr val="bg2"/>
          </a:solidFill>
          <a:ln w="12700">
            <a:solidFill>
              <a:schemeClr val="bg2"/>
            </a:solidFill>
            <a:prstDash val="solid"/>
          </a:ln>
        </p:spPr>
      </p:sp>
      <p:sp>
        <p:nvSpPr>
          <p:cNvPr id="12" name="token same head"/>
          <p:cNvSpPr txBox="1"/>
          <p:nvPr/>
        </p:nvSpPr>
        <p:spPr>
          <a:xfrm>
            <a:off x="4846320" y="2487168"/>
            <a:ext cx="3657600" cy="365760"/>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Same trick elsewhere</a:t>
            </a:r>
            <a:endParaRPr lang="en-US" sz="1500" dirty="0"/>
          </a:p>
        </p:txBody>
      </p:sp>
      <p:sp>
        <p:nvSpPr>
          <p:cNvPr id="13" name="token same body"/>
          <p:cNvSpPr txBox="1"/>
          <p:nvPr/>
        </p:nvSpPr>
        <p:spPr>
          <a:xfrm>
            <a:off x="4846320" y="2880360"/>
            <a:ext cx="365760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NOTIFICATION_POLL_MS and THEME_STORAGE. Tests set the poll to a tiny value.</a:t>
            </a:r>
            <a:endParaRPr lang="en-US" sz="1400" dirty="0"/>
          </a:p>
        </p:txBody>
      </p:sp>
      <p:sp>
        <p:nvSpPr>
          <p:cNvPr id="14" name="inject rule bg"/>
          <p:cNvSpPr/>
          <p:nvPr/>
        </p:nvSpPr>
        <p:spPr>
          <a:xfrm>
            <a:off x="4663440" y="3611880"/>
            <a:ext cx="4023360" cy="1051560"/>
          </a:xfrm>
          <a:prstGeom prst="roundRect">
            <a:avLst>
              <a:gd name="adj" fmla="val 8696"/>
            </a:avLst>
          </a:prstGeom>
          <a:solidFill>
            <a:schemeClr val="bg2"/>
          </a:solidFill>
          <a:ln w="12700">
            <a:solidFill>
              <a:schemeClr val="bg2"/>
            </a:solidFill>
            <a:prstDash val="solid"/>
          </a:ln>
        </p:spPr>
      </p:sp>
      <p:sp>
        <p:nvSpPr>
          <p:cNvPr id="15" name="inject rule head"/>
          <p:cNvSpPr txBox="1"/>
          <p:nvPr/>
        </p:nvSpPr>
        <p:spPr>
          <a:xfrm>
            <a:off x="4846320" y="3721608"/>
            <a:ext cx="3657600" cy="36576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The inject() rule</a:t>
            </a:r>
            <a:endParaRPr lang="en-US" sz="1500" dirty="0"/>
          </a:p>
        </p:txBody>
      </p:sp>
      <p:sp>
        <p:nvSpPr>
          <p:cNvPr id="16" name="inject rule body"/>
          <p:cNvSpPr txBox="1"/>
          <p:nvPr/>
        </p:nvSpPr>
        <p:spPr>
          <a:xfrm>
            <a:off x="4846320" y="4114800"/>
            <a:ext cx="365760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Works only while Angular runs your code, not in later callbacks.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Routing and lazy loading</a:t>
            </a:r>
            <a:endParaRPr lang="en-US" sz="3200" dirty="0"/>
          </a:p>
        </p:txBody>
      </p:sp>
      <p:sp>
        <p:nvSpPr>
          <p:cNvPr id="4" name="route tree bg"/>
          <p:cNvSpPr/>
          <p:nvPr/>
        </p:nvSpPr>
        <p:spPr>
          <a:xfrm>
            <a:off x="457200" y="1143000"/>
            <a:ext cx="4572000" cy="3520440"/>
          </a:xfrm>
          <a:prstGeom prst="roundRect">
            <a:avLst>
              <a:gd name="adj" fmla="val 2078"/>
            </a:avLst>
          </a:prstGeom>
          <a:solidFill>
            <a:schemeClr val="tx1"/>
          </a:solidFill>
          <a:ln w="12700">
            <a:solidFill>
              <a:schemeClr val="tx1"/>
            </a:solidFill>
            <a:prstDash val="solid"/>
          </a:ln>
        </p:spPr>
      </p:sp>
      <p:sp>
        <p:nvSpPr>
          <p:cNvPr id="5" name="route tree"/>
          <p:cNvSpPr txBox="1"/>
          <p:nvPr/>
        </p:nvSpPr>
        <p:spPr>
          <a:xfrm>
            <a:off x="594360" y="1234440"/>
            <a:ext cx="4297680" cy="33375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-&gt; LandingPage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/login           -&gt; LoginPage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/register, /verify-otp,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/forgot-password, /reset-password</a:t>
            </a:r>
            <a:endParaRPr lang="en-US" sz="1200" dirty="0"/>
          </a:p>
          <a:p>
            <a:pPr indent="0" marL="0">
              <a:buNone/>
            </a:pP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/app  -&gt; Shell        [authGuard]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/dashboard   -&gt; DashboardPage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/portfolio   /orders   /blotter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/account     /settings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/bank-accounts</a:t>
            </a:r>
            <a:endParaRPr lang="en-US" sz="1200" dirty="0"/>
          </a:p>
          <a:p>
            <a:pPr indent="0" marL="0">
              <a:buNone/>
            </a:pP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/dashboard ... -&gt; redirect /app/...</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-&gt; redirect /</a:t>
            </a:r>
            <a:endParaRPr lang="en-US" sz="1200" dirty="0"/>
          </a:p>
        </p:txBody>
      </p:sp>
      <p:sp>
        <p:nvSpPr>
          <p:cNvPr id="6" name="nested note bg"/>
          <p:cNvSpPr/>
          <p:nvPr/>
        </p:nvSpPr>
        <p:spPr>
          <a:xfrm>
            <a:off x="5257800" y="1143000"/>
            <a:ext cx="3429000" cy="1143000"/>
          </a:xfrm>
          <a:prstGeom prst="roundRect">
            <a:avLst>
              <a:gd name="adj" fmla="val 8000"/>
            </a:avLst>
          </a:prstGeom>
          <a:solidFill>
            <a:schemeClr val="bg2"/>
          </a:solidFill>
          <a:ln w="12700">
            <a:solidFill>
              <a:schemeClr val="bg2"/>
            </a:solidFill>
            <a:prstDash val="solid"/>
          </a:ln>
        </p:spPr>
      </p:sp>
      <p:sp>
        <p:nvSpPr>
          <p:cNvPr id="7" name="nested note head"/>
          <p:cNvSpPr txBox="1"/>
          <p:nvPr/>
        </p:nvSpPr>
        <p:spPr>
          <a:xfrm>
            <a:off x="5440680" y="1252728"/>
            <a:ext cx="3063240" cy="36576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Nested outlets</a:t>
            </a:r>
            <a:endParaRPr lang="en-US" sz="1600" dirty="0"/>
          </a:p>
        </p:txBody>
      </p:sp>
      <p:sp>
        <p:nvSpPr>
          <p:cNvPr id="8" name="nested note body"/>
          <p:cNvSpPr txBox="1"/>
          <p:nvPr/>
        </p:nvSpPr>
        <p:spPr>
          <a:xfrm>
            <a:off x="5440680" y="1645920"/>
            <a:ext cx="306324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Shell draws the frame; the page appears in Shell's own outlet.</a:t>
            </a:r>
            <a:endParaRPr lang="en-US" sz="1400" dirty="0"/>
          </a:p>
        </p:txBody>
      </p:sp>
      <p:sp>
        <p:nvSpPr>
          <p:cNvPr id="9" name="lazy note bg"/>
          <p:cNvSpPr/>
          <p:nvPr/>
        </p:nvSpPr>
        <p:spPr>
          <a:xfrm>
            <a:off x="5257800" y="2423160"/>
            <a:ext cx="3429000" cy="1143000"/>
          </a:xfrm>
          <a:prstGeom prst="roundRect">
            <a:avLst>
              <a:gd name="adj" fmla="val 8000"/>
            </a:avLst>
          </a:prstGeom>
          <a:solidFill>
            <a:schemeClr val="bg2"/>
          </a:solidFill>
          <a:ln w="12700">
            <a:solidFill>
              <a:schemeClr val="bg2"/>
            </a:solidFill>
            <a:prstDash val="solid"/>
          </a:ln>
        </p:spPr>
      </p:sp>
      <p:sp>
        <p:nvSpPr>
          <p:cNvPr id="10" name="lazy note head"/>
          <p:cNvSpPr txBox="1"/>
          <p:nvPr/>
        </p:nvSpPr>
        <p:spPr>
          <a:xfrm>
            <a:off x="5440680" y="2532888"/>
            <a:ext cx="306324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Lazy loading</a:t>
            </a:r>
            <a:endParaRPr lang="en-US" sz="1600" dirty="0"/>
          </a:p>
        </p:txBody>
      </p:sp>
      <p:sp>
        <p:nvSpPr>
          <p:cNvPr id="11" name="lazy note body"/>
          <p:cNvSpPr txBox="1"/>
          <p:nvPr/>
        </p:nvSpPr>
        <p:spPr>
          <a:xfrm>
            <a:off x="5440680" y="2926080"/>
            <a:ext cx="306324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import() fetches a page's code on first visit. Initial bundle: 808 kB.</a:t>
            </a:r>
            <a:endParaRPr lang="en-US" sz="1400" dirty="0"/>
          </a:p>
        </p:txBody>
      </p:sp>
      <p:sp>
        <p:nvSpPr>
          <p:cNvPr id="12" name="legacy note bg"/>
          <p:cNvSpPr/>
          <p:nvPr/>
        </p:nvSpPr>
        <p:spPr>
          <a:xfrm>
            <a:off x="5257800" y="3703320"/>
            <a:ext cx="3429000" cy="960120"/>
          </a:xfrm>
          <a:prstGeom prst="roundRect">
            <a:avLst>
              <a:gd name="adj" fmla="val 9524"/>
            </a:avLst>
          </a:prstGeom>
          <a:solidFill>
            <a:schemeClr val="bg2"/>
          </a:solidFill>
          <a:ln w="12700">
            <a:solidFill>
              <a:schemeClr val="bg2"/>
            </a:solidFill>
            <a:prstDash val="solid"/>
          </a:ln>
        </p:spPr>
      </p:sp>
      <p:sp>
        <p:nvSpPr>
          <p:cNvPr id="13" name="legacy note head"/>
          <p:cNvSpPr txBox="1"/>
          <p:nvPr/>
        </p:nvSpPr>
        <p:spPr>
          <a:xfrm>
            <a:off x="5440680" y="3813048"/>
            <a:ext cx="3063240" cy="36576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Legacy redirects</a:t>
            </a:r>
            <a:endParaRPr lang="en-US" sz="1600" dirty="0"/>
          </a:p>
        </p:txBody>
      </p:sp>
      <p:sp>
        <p:nvSpPr>
          <p:cNvPr id="14" name="legacy note body"/>
          <p:cNvSpPr txBox="1"/>
          <p:nvPr/>
        </p:nvSpPr>
        <p:spPr>
          <a:xfrm>
            <a:off x="5440680" y="4206240"/>
            <a:ext cx="306324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Old URLs from before /app.</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Guards and the return-URL flow</a:t>
            </a:r>
            <a:endParaRPr lang="en-US" sz="3200" dirty="0"/>
          </a:p>
        </p:txBody>
      </p:sp>
      <p:sp>
        <p:nvSpPr>
          <p:cNvPr id="4" name="guard 1 bg"/>
          <p:cNvSpPr/>
          <p:nvPr/>
        </p:nvSpPr>
        <p:spPr>
          <a:xfrm>
            <a:off x="457200" y="1188720"/>
            <a:ext cx="1920240" cy="1737360"/>
          </a:xfrm>
          <a:prstGeom prst="roundRect">
            <a:avLst>
              <a:gd name="adj" fmla="val 5263"/>
            </a:avLst>
          </a:prstGeom>
          <a:solidFill>
            <a:schemeClr val="bg2"/>
          </a:solidFill>
          <a:ln w="12700">
            <a:solidFill>
              <a:schemeClr val="bg2"/>
            </a:solidFill>
            <a:prstDash val="solid"/>
          </a:ln>
        </p:spPr>
      </p:sp>
      <p:sp>
        <p:nvSpPr>
          <p:cNvPr id="5" name="guard 1 dot"/>
          <p:cNvSpPr/>
          <p:nvPr/>
        </p:nvSpPr>
        <p:spPr>
          <a:xfrm>
            <a:off x="594360" y="1325880"/>
            <a:ext cx="365760" cy="365760"/>
          </a:xfrm>
          <a:prstGeom prst="ellipse">
            <a:avLst/>
          </a:prstGeom>
          <a:solidFill>
            <a:schemeClr val="accent2"/>
          </a:solidFill>
          <a:ln w="12700">
            <a:solidFill>
              <a:schemeClr val="accent2"/>
            </a:solidFill>
            <a:prstDash val="solid"/>
          </a:ln>
        </p:spPr>
      </p:sp>
      <p:sp>
        <p:nvSpPr>
          <p:cNvPr id="6" name="guard 1 dot label"/>
          <p:cNvSpPr txBox="1"/>
          <p:nvPr/>
        </p:nvSpPr>
        <p:spPr>
          <a:xfrm>
            <a:off x="594360"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guard 1 name"/>
          <p:cNvSpPr txBox="1"/>
          <p:nvPr/>
        </p:nvSpPr>
        <p:spPr>
          <a:xfrm>
            <a:off x="594360" y="1783080"/>
            <a:ext cx="164592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Signed out</a:t>
            </a:r>
            <a:endParaRPr lang="en-US" sz="1500" dirty="0"/>
          </a:p>
        </p:txBody>
      </p:sp>
      <p:sp>
        <p:nvSpPr>
          <p:cNvPr id="8" name="guard 1 body"/>
          <p:cNvSpPr txBox="1"/>
          <p:nvPr/>
        </p:nvSpPr>
        <p:spPr>
          <a:xfrm>
            <a:off x="594360" y="214884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Visitor opens /app/orders</a:t>
            </a:r>
            <a:endParaRPr lang="en-US" sz="1400" dirty="0"/>
          </a:p>
        </p:txBody>
      </p:sp>
      <p:sp>
        <p:nvSpPr>
          <p:cNvPr id="9" name="guard 2 bg"/>
          <p:cNvSpPr/>
          <p:nvPr/>
        </p:nvSpPr>
        <p:spPr>
          <a:xfrm>
            <a:off x="2542032" y="1188720"/>
            <a:ext cx="1920240" cy="1737360"/>
          </a:xfrm>
          <a:prstGeom prst="roundRect">
            <a:avLst>
              <a:gd name="adj" fmla="val 5263"/>
            </a:avLst>
          </a:prstGeom>
          <a:solidFill>
            <a:schemeClr val="bg2"/>
          </a:solidFill>
          <a:ln w="12700">
            <a:solidFill>
              <a:schemeClr val="bg2"/>
            </a:solidFill>
            <a:prstDash val="solid"/>
          </a:ln>
        </p:spPr>
      </p:sp>
      <p:sp>
        <p:nvSpPr>
          <p:cNvPr id="10" name="guard 2 dot"/>
          <p:cNvSpPr/>
          <p:nvPr/>
        </p:nvSpPr>
        <p:spPr>
          <a:xfrm>
            <a:off x="2679192" y="1325880"/>
            <a:ext cx="365760" cy="365760"/>
          </a:xfrm>
          <a:prstGeom prst="ellipse">
            <a:avLst/>
          </a:prstGeom>
          <a:solidFill>
            <a:schemeClr val="accent2"/>
          </a:solidFill>
          <a:ln w="12700">
            <a:solidFill>
              <a:schemeClr val="accent2"/>
            </a:solidFill>
            <a:prstDash val="solid"/>
          </a:ln>
        </p:spPr>
      </p:sp>
      <p:sp>
        <p:nvSpPr>
          <p:cNvPr id="11" name="guard 2 dot label"/>
          <p:cNvSpPr txBox="1"/>
          <p:nvPr/>
        </p:nvSpPr>
        <p:spPr>
          <a:xfrm>
            <a:off x="2679192"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guard 2 name"/>
          <p:cNvSpPr txBox="1"/>
          <p:nvPr/>
        </p:nvSpPr>
        <p:spPr>
          <a:xfrm>
            <a:off x="2679192" y="1783080"/>
            <a:ext cx="164592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Guard blocks</a:t>
            </a:r>
            <a:endParaRPr lang="en-US" sz="1500" dirty="0"/>
          </a:p>
        </p:txBody>
      </p:sp>
      <p:sp>
        <p:nvSpPr>
          <p:cNvPr id="13" name="guard 2 body"/>
          <p:cNvSpPr txBox="1"/>
          <p:nvPr/>
        </p:nvSpPr>
        <p:spPr>
          <a:xfrm>
            <a:off x="2679192" y="214884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authGuard returns a UrlTree to /login</a:t>
            </a:r>
            <a:endParaRPr lang="en-US" sz="1400" dirty="0"/>
          </a:p>
        </p:txBody>
      </p:sp>
      <p:sp>
        <p:nvSpPr>
          <p:cNvPr id="14" name="guard 3 bg"/>
          <p:cNvSpPr/>
          <p:nvPr/>
        </p:nvSpPr>
        <p:spPr>
          <a:xfrm>
            <a:off x="4626864" y="1188720"/>
            <a:ext cx="1920240" cy="1737360"/>
          </a:xfrm>
          <a:prstGeom prst="roundRect">
            <a:avLst>
              <a:gd name="adj" fmla="val 5263"/>
            </a:avLst>
          </a:prstGeom>
          <a:solidFill>
            <a:schemeClr val="bg2"/>
          </a:solidFill>
          <a:ln w="12700">
            <a:solidFill>
              <a:schemeClr val="bg2"/>
            </a:solidFill>
            <a:prstDash val="solid"/>
          </a:ln>
        </p:spPr>
      </p:sp>
      <p:sp>
        <p:nvSpPr>
          <p:cNvPr id="15" name="guard 3 dot"/>
          <p:cNvSpPr/>
          <p:nvPr/>
        </p:nvSpPr>
        <p:spPr>
          <a:xfrm>
            <a:off x="4764024" y="1325880"/>
            <a:ext cx="365760" cy="365760"/>
          </a:xfrm>
          <a:prstGeom prst="ellipse">
            <a:avLst/>
          </a:prstGeom>
          <a:solidFill>
            <a:schemeClr val="accent2"/>
          </a:solidFill>
          <a:ln w="12700">
            <a:solidFill>
              <a:schemeClr val="accent2"/>
            </a:solidFill>
            <a:prstDash val="solid"/>
          </a:ln>
        </p:spPr>
      </p:sp>
      <p:sp>
        <p:nvSpPr>
          <p:cNvPr id="16" name="guard 3 dot label"/>
          <p:cNvSpPr txBox="1"/>
          <p:nvPr/>
        </p:nvSpPr>
        <p:spPr>
          <a:xfrm>
            <a:off x="4764024"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7" name="guard 3 name"/>
          <p:cNvSpPr txBox="1"/>
          <p:nvPr/>
        </p:nvSpPr>
        <p:spPr>
          <a:xfrm>
            <a:off x="4764024" y="1783080"/>
            <a:ext cx="164592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Carry it</a:t>
            </a:r>
            <a:endParaRPr lang="en-US" sz="1500" dirty="0"/>
          </a:p>
        </p:txBody>
      </p:sp>
      <p:sp>
        <p:nvSpPr>
          <p:cNvPr id="18" name="guard 3 body"/>
          <p:cNvSpPr txBox="1"/>
          <p:nvPr/>
        </p:nvSpPr>
        <p:spPr>
          <a:xfrm>
            <a:off x="4764024" y="214884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?returnUrl=/app/orders saved</a:t>
            </a:r>
            <a:endParaRPr lang="en-US" sz="1400" dirty="0"/>
          </a:p>
        </p:txBody>
      </p:sp>
      <p:sp>
        <p:nvSpPr>
          <p:cNvPr id="19" name="guard 4 bg"/>
          <p:cNvSpPr/>
          <p:nvPr/>
        </p:nvSpPr>
        <p:spPr>
          <a:xfrm>
            <a:off x="6711696" y="1188720"/>
            <a:ext cx="1920240" cy="1737360"/>
          </a:xfrm>
          <a:prstGeom prst="roundRect">
            <a:avLst>
              <a:gd name="adj" fmla="val 5263"/>
            </a:avLst>
          </a:prstGeom>
          <a:solidFill>
            <a:schemeClr val="bg2"/>
          </a:solidFill>
          <a:ln w="12700">
            <a:solidFill>
              <a:schemeClr val="bg2"/>
            </a:solidFill>
            <a:prstDash val="solid"/>
          </a:ln>
        </p:spPr>
      </p:sp>
      <p:sp>
        <p:nvSpPr>
          <p:cNvPr id="20" name="guard 4 dot"/>
          <p:cNvSpPr/>
          <p:nvPr/>
        </p:nvSpPr>
        <p:spPr>
          <a:xfrm>
            <a:off x="6848856" y="1325880"/>
            <a:ext cx="365760" cy="365760"/>
          </a:xfrm>
          <a:prstGeom prst="ellipse">
            <a:avLst/>
          </a:prstGeom>
          <a:solidFill>
            <a:schemeClr val="accent2"/>
          </a:solidFill>
          <a:ln w="12700">
            <a:solidFill>
              <a:schemeClr val="accent2"/>
            </a:solidFill>
            <a:prstDash val="solid"/>
          </a:ln>
        </p:spPr>
      </p:sp>
      <p:sp>
        <p:nvSpPr>
          <p:cNvPr id="21" name="guard 4 dot label"/>
          <p:cNvSpPr txBox="1"/>
          <p:nvPr/>
        </p:nvSpPr>
        <p:spPr>
          <a:xfrm>
            <a:off x="6848856"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2" name="guard 4 name"/>
          <p:cNvSpPr txBox="1"/>
          <p:nvPr/>
        </p:nvSpPr>
        <p:spPr>
          <a:xfrm>
            <a:off x="6848856" y="1783080"/>
            <a:ext cx="164592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Sign in</a:t>
            </a:r>
            <a:endParaRPr lang="en-US" sz="1500" dirty="0"/>
          </a:p>
        </p:txBody>
      </p:sp>
      <p:sp>
        <p:nvSpPr>
          <p:cNvPr id="23" name="guard 4 body"/>
          <p:cNvSpPr txBox="1"/>
          <p:nvPr/>
        </p:nvSpPr>
        <p:spPr>
          <a:xfrm>
            <a:off x="6848856" y="2148840"/>
            <a:ext cx="164592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LoginPage consumes the URL and goes there</a:t>
            </a:r>
            <a:endParaRPr lang="en-US" sz="1400" dirty="0"/>
          </a:p>
        </p:txBody>
      </p:sp>
      <p:sp>
        <p:nvSpPr>
          <p:cNvPr id="24" name="guard honesty bg"/>
          <p:cNvSpPr/>
          <p:nvPr/>
        </p:nvSpPr>
        <p:spPr>
          <a:xfrm>
            <a:off x="457200" y="3154680"/>
            <a:ext cx="3977640" cy="1280160"/>
          </a:xfrm>
          <a:prstGeom prst="roundRect">
            <a:avLst>
              <a:gd name="adj" fmla="val 7143"/>
            </a:avLst>
          </a:prstGeom>
          <a:solidFill>
            <a:schemeClr val="tx2"/>
          </a:solidFill>
          <a:ln w="12700">
            <a:solidFill>
              <a:schemeClr val="tx2"/>
            </a:solidFill>
            <a:prstDash val="solid"/>
          </a:ln>
        </p:spPr>
      </p:sp>
      <p:sp>
        <p:nvSpPr>
          <p:cNvPr id="25" name="guard honesty"/>
          <p:cNvSpPr txBox="1"/>
          <p:nvPr/>
        </p:nvSpPr>
        <p:spPr>
          <a:xfrm>
            <a:off x="640080" y="3246120"/>
            <a:ext cx="3611880" cy="109728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Say this in the review</a:t>
            </a:r>
            <a:endParaRPr lang="en-US" sz="1600" dirty="0"/>
          </a:p>
          <a:p>
            <a:pPr indent="0" marL="0">
              <a:buNone/>
            </a:pPr>
            <a:r>
              <a:rPr lang="en-US" sz="1400" dirty="0">
                <a:solidFill>
                  <a:schemeClr val="bg1"/>
                </a:solidFill>
                <a:latin typeface="Calibri" pitchFamily="34" charset="0"/>
                <a:ea typeface="Calibri" pitchFamily="34" charset="-122"/>
                <a:cs typeface="Calibri" pitchFamily="34" charset="-120"/>
              </a:rPr>
              <a:t>The guard is usability, not security. The API checks the token on every call.</a:t>
            </a:r>
            <a:endParaRPr lang="en-US" sz="1600" dirty="0"/>
          </a:p>
        </p:txBody>
      </p:sp>
      <p:sp>
        <p:nvSpPr>
          <p:cNvPr id="26" name="redirect bg"/>
          <p:cNvSpPr/>
          <p:nvPr/>
        </p:nvSpPr>
        <p:spPr>
          <a:xfrm>
            <a:off x="4709160" y="3154680"/>
            <a:ext cx="3977640" cy="1280160"/>
          </a:xfrm>
          <a:prstGeom prst="roundRect">
            <a:avLst>
              <a:gd name="adj" fmla="val 7143"/>
            </a:avLst>
          </a:prstGeom>
          <a:solidFill>
            <a:schemeClr val="accent1"/>
          </a:solidFill>
          <a:ln w="12700">
            <a:solidFill>
              <a:schemeClr val="accent1"/>
            </a:solidFill>
            <a:prstDash val="solid"/>
          </a:ln>
        </p:spPr>
      </p:sp>
      <p:sp>
        <p:nvSpPr>
          <p:cNvPr id="27" name="redirect text"/>
          <p:cNvSpPr txBox="1"/>
          <p:nvPr/>
        </p:nvSpPr>
        <p:spPr>
          <a:xfrm>
            <a:off x="4892040" y="3246120"/>
            <a:ext cx="3611880" cy="109728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Why sanitise returnUrl?</a:t>
            </a:r>
            <a:endParaRPr lang="en-US" sz="1600" dirty="0"/>
          </a:p>
          <a:p>
            <a:pPr indent="0" marL="0">
              <a:buNone/>
            </a:pPr>
            <a:r>
              <a:rPr lang="en-US" sz="1400" dirty="0">
                <a:solidFill>
                  <a:schemeClr val="bg1"/>
                </a:solidFill>
                <a:latin typeface="Calibri" pitchFamily="34" charset="0"/>
                <a:ea typeface="Calibri" pitchFamily="34" charset="-122"/>
                <a:cs typeface="Calibri" pitchFamily="34" charset="-120"/>
              </a:rPr>
              <a:t>Only a single-slash path on this site is accepted, so a crafted link cannot bounce a user to a look-alike site after login.</a:t>
            </a:r>
            <a:endParaRPr lang="en-US" sz="16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a backend call travels</a:t>
            </a:r>
            <a:endParaRPr lang="en-US" sz="3200" dirty="0"/>
          </a:p>
        </p:txBody>
      </p:sp>
      <p:sp>
        <p:nvSpPr>
          <p:cNvPr id="4" name="http 1 bg"/>
          <p:cNvSpPr/>
          <p:nvPr/>
        </p:nvSpPr>
        <p:spPr>
          <a:xfrm>
            <a:off x="457200" y="1280160"/>
            <a:ext cx="1417320" cy="1554480"/>
          </a:xfrm>
          <a:prstGeom prst="roundRect">
            <a:avLst>
              <a:gd name="adj" fmla="val 6452"/>
            </a:avLst>
          </a:prstGeom>
          <a:solidFill>
            <a:schemeClr val="bg2"/>
          </a:solidFill>
          <a:ln w="12700">
            <a:solidFill>
              <a:schemeClr val="bg2"/>
            </a:solidFill>
            <a:prstDash val="solid"/>
          </a:ln>
        </p:spPr>
      </p:sp>
      <p:sp>
        <p:nvSpPr>
          <p:cNvPr id="5" name="http 1 text"/>
          <p:cNvSpPr txBox="1"/>
          <p:nvPr/>
        </p:nvSpPr>
        <p:spPr>
          <a:xfrm>
            <a:off x="548640" y="1371600"/>
            <a:ext cx="1234440" cy="1371600"/>
          </a:xfrm>
          <a:prstGeom prst="rect">
            <a:avLst/>
          </a:prstGeom>
          <a:noFill/>
          <a:ln/>
        </p:spPr>
        <p:txBody>
          <a:bodyPr wrap="square" lIns="0" tIns="0" rIns="0" bIns="0" rtlCol="0" anchor="t"/>
          <a:lstStyle/>
          <a:p>
            <a:pPr algn="l" indent="0" marL="0">
              <a:buNone/>
            </a:pPr>
            <a:r>
              <a:rPr lang="en-US" sz="1400" b="1" dirty="0">
                <a:solidFill>
                  <a:schemeClr val="tx2"/>
                </a:solidFill>
                <a:latin typeface="Cambria" pitchFamily="34" charset="0"/>
                <a:ea typeface="Cambria" pitchFamily="34" charset="-122"/>
                <a:cs typeface="Cambria" pitchFamily="34" charset="-120"/>
              </a:rPr>
              <a:t>Component</a:t>
            </a:r>
            <a:endParaRPr lang="en-US" sz="1400" dirty="0"/>
          </a:p>
          <a:p>
            <a:pPr algn="l" indent="0" marL="0">
              <a:buNone/>
            </a:pPr>
            <a:r>
              <a:rPr lang="en-US" sz="1400" dirty="0">
                <a:solidFill>
                  <a:schemeClr val="tx1"/>
                </a:solidFill>
                <a:latin typeface="Calibri" pitchFamily="34" charset="0"/>
                <a:ea typeface="Calibri" pitchFamily="34" charset="-122"/>
                <a:cs typeface="Calibri" pitchFamily="34" charset="-120"/>
              </a:rPr>
              <a:t>calls a method</a:t>
            </a:r>
            <a:endParaRPr lang="en-US" sz="1400" dirty="0"/>
          </a:p>
        </p:txBody>
      </p:sp>
      <p:sp>
        <p:nvSpPr>
          <p:cNvPr id="6" name="http arrow 1"/>
          <p:cNvSpPr txBox="1"/>
          <p:nvPr/>
        </p:nvSpPr>
        <p:spPr>
          <a:xfrm>
            <a:off x="1874520" y="1783080"/>
            <a:ext cx="246888" cy="36576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7" name="http 2 bg"/>
          <p:cNvSpPr/>
          <p:nvPr/>
        </p:nvSpPr>
        <p:spPr>
          <a:xfrm>
            <a:off x="2121408" y="1280160"/>
            <a:ext cx="1417320" cy="1554480"/>
          </a:xfrm>
          <a:prstGeom prst="roundRect">
            <a:avLst>
              <a:gd name="adj" fmla="val 6452"/>
            </a:avLst>
          </a:prstGeom>
          <a:solidFill>
            <a:schemeClr val="bg2"/>
          </a:solidFill>
          <a:ln w="12700">
            <a:solidFill>
              <a:schemeClr val="bg2"/>
            </a:solidFill>
            <a:prstDash val="solid"/>
          </a:ln>
        </p:spPr>
      </p:sp>
      <p:sp>
        <p:nvSpPr>
          <p:cNvPr id="8" name="http 2 text"/>
          <p:cNvSpPr txBox="1"/>
          <p:nvPr/>
        </p:nvSpPr>
        <p:spPr>
          <a:xfrm>
            <a:off x="2212848" y="1371600"/>
            <a:ext cx="1234440" cy="1371600"/>
          </a:xfrm>
          <a:prstGeom prst="rect">
            <a:avLst/>
          </a:prstGeom>
          <a:noFill/>
          <a:ln/>
        </p:spPr>
        <p:txBody>
          <a:bodyPr wrap="square" lIns="0" tIns="0" rIns="0" bIns="0" rtlCol="0" anchor="t"/>
          <a:lstStyle/>
          <a:p>
            <a:pPr algn="l" indent="0" marL="0">
              <a:buNone/>
            </a:pPr>
            <a:r>
              <a:rPr lang="en-US" sz="1400" b="1" dirty="0">
                <a:solidFill>
                  <a:schemeClr val="tx2"/>
                </a:solidFill>
                <a:latin typeface="Cambria" pitchFamily="34" charset="0"/>
                <a:ea typeface="Cambria" pitchFamily="34" charset="-122"/>
                <a:cs typeface="Cambria" pitchFamily="34" charset="-120"/>
              </a:rPr>
              <a:t>Generated client</a:t>
            </a:r>
            <a:endParaRPr lang="en-US" sz="1400" dirty="0"/>
          </a:p>
          <a:p>
            <a:pPr algn="l" indent="0" marL="0">
              <a:buNone/>
            </a:pPr>
            <a:r>
              <a:rPr lang="en-US" sz="1400" dirty="0">
                <a:solidFill>
                  <a:schemeClr val="tx1"/>
                </a:solidFill>
                <a:latin typeface="Calibri" pitchFamily="34" charset="0"/>
                <a:ea typeface="Calibri" pitchFamily="34" charset="-122"/>
                <a:cs typeface="Calibri" pitchFamily="34" charset="-120"/>
              </a:rPr>
              <a:t>typed, from the YAML contract</a:t>
            </a:r>
            <a:endParaRPr lang="en-US" sz="1400" dirty="0"/>
          </a:p>
        </p:txBody>
      </p:sp>
      <p:sp>
        <p:nvSpPr>
          <p:cNvPr id="9" name="http arrow 2"/>
          <p:cNvSpPr txBox="1"/>
          <p:nvPr/>
        </p:nvSpPr>
        <p:spPr>
          <a:xfrm>
            <a:off x="3538728" y="1783080"/>
            <a:ext cx="246888" cy="36576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10" name="http 3 bg"/>
          <p:cNvSpPr/>
          <p:nvPr/>
        </p:nvSpPr>
        <p:spPr>
          <a:xfrm>
            <a:off x="3785616" y="1280160"/>
            <a:ext cx="1417320" cy="1554480"/>
          </a:xfrm>
          <a:prstGeom prst="roundRect">
            <a:avLst>
              <a:gd name="adj" fmla="val 6452"/>
            </a:avLst>
          </a:prstGeom>
          <a:solidFill>
            <a:schemeClr val="bg2"/>
          </a:solidFill>
          <a:ln w="12700">
            <a:solidFill>
              <a:schemeClr val="bg2"/>
            </a:solidFill>
            <a:prstDash val="solid"/>
          </a:ln>
        </p:spPr>
      </p:sp>
      <p:sp>
        <p:nvSpPr>
          <p:cNvPr id="11" name="http 3 text"/>
          <p:cNvSpPr txBox="1"/>
          <p:nvPr/>
        </p:nvSpPr>
        <p:spPr>
          <a:xfrm>
            <a:off x="3877056" y="1371600"/>
            <a:ext cx="1234440" cy="1371600"/>
          </a:xfrm>
          <a:prstGeom prst="rect">
            <a:avLst/>
          </a:prstGeom>
          <a:noFill/>
          <a:ln/>
        </p:spPr>
        <p:txBody>
          <a:bodyPr wrap="square" lIns="0" tIns="0" rIns="0" bIns="0" rtlCol="0" anchor="t"/>
          <a:lstStyle/>
          <a:p>
            <a:pPr algn="l" indent="0" marL="0">
              <a:buNone/>
            </a:pPr>
            <a:r>
              <a:rPr lang="en-US" sz="1400" b="1" dirty="0">
                <a:solidFill>
                  <a:schemeClr val="tx2"/>
                </a:solidFill>
                <a:latin typeface="Cambria" pitchFamily="34" charset="0"/>
                <a:ea typeface="Cambria" pitchFamily="34" charset="-122"/>
                <a:cs typeface="Cambria" pitchFamily="34" charset="-120"/>
              </a:rPr>
              <a:t>HttpClient</a:t>
            </a:r>
            <a:endParaRPr lang="en-US" sz="1400" dirty="0"/>
          </a:p>
          <a:p>
            <a:pPr algn="l" indent="0" marL="0">
              <a:buNone/>
            </a:pPr>
            <a:r>
              <a:rPr lang="en-US" sz="1400" dirty="0">
                <a:solidFill>
                  <a:schemeClr val="tx1"/>
                </a:solidFill>
                <a:latin typeface="Calibri" pitchFamily="34" charset="0"/>
                <a:ea typeface="Calibri" pitchFamily="34" charset="-122"/>
                <a:cs typeface="Calibri" pitchFamily="34" charset="-120"/>
              </a:rPr>
              <a:t>sends the request</a:t>
            </a:r>
            <a:endParaRPr lang="en-US" sz="1400" dirty="0"/>
          </a:p>
        </p:txBody>
      </p:sp>
      <p:sp>
        <p:nvSpPr>
          <p:cNvPr id="12" name="http arrow 3"/>
          <p:cNvSpPr txBox="1"/>
          <p:nvPr/>
        </p:nvSpPr>
        <p:spPr>
          <a:xfrm>
            <a:off x="5202936" y="1783080"/>
            <a:ext cx="246888" cy="36576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13" name="http 4 bg"/>
          <p:cNvSpPr/>
          <p:nvPr/>
        </p:nvSpPr>
        <p:spPr>
          <a:xfrm>
            <a:off x="5449824" y="1280160"/>
            <a:ext cx="1417320" cy="1554480"/>
          </a:xfrm>
          <a:prstGeom prst="roundRect">
            <a:avLst>
              <a:gd name="adj" fmla="val 6452"/>
            </a:avLst>
          </a:prstGeom>
          <a:solidFill>
            <a:schemeClr val="accent1"/>
          </a:solidFill>
          <a:ln w="12700">
            <a:solidFill>
              <a:schemeClr val="accent1"/>
            </a:solidFill>
            <a:prstDash val="solid"/>
          </a:ln>
        </p:spPr>
      </p:sp>
      <p:sp>
        <p:nvSpPr>
          <p:cNvPr id="14" name="http 4 text"/>
          <p:cNvSpPr txBox="1"/>
          <p:nvPr/>
        </p:nvSpPr>
        <p:spPr>
          <a:xfrm>
            <a:off x="5541264" y="1371600"/>
            <a:ext cx="1234440" cy="1371600"/>
          </a:xfrm>
          <a:prstGeom prst="rect">
            <a:avLst/>
          </a:prstGeom>
          <a:noFill/>
          <a:ln/>
        </p:spPr>
        <p:txBody>
          <a:bodyPr wrap="square" lIns="0" tIns="0" rIns="0" bIns="0" rtlCol="0" anchor="t"/>
          <a:lstStyle/>
          <a:p>
            <a:pPr algn="l" indent="0" marL="0">
              <a:buNone/>
            </a:pPr>
            <a:r>
              <a:rPr lang="en-US" sz="1400" b="1" dirty="0">
                <a:solidFill>
                  <a:schemeClr val="bg1"/>
                </a:solidFill>
                <a:latin typeface="Cambria" pitchFamily="34" charset="0"/>
                <a:ea typeface="Cambria" pitchFamily="34" charset="-122"/>
                <a:cs typeface="Cambria" pitchFamily="34" charset="-120"/>
              </a:rPr>
              <a:t>Interceptor</a:t>
            </a:r>
            <a:endParaRPr lang="en-US" sz="1400" dirty="0"/>
          </a:p>
          <a:p>
            <a:pPr algn="l" indent="0" marL="0">
              <a:buNone/>
            </a:pPr>
            <a:r>
              <a:rPr lang="en-US" sz="1400" dirty="0">
                <a:solidFill>
                  <a:schemeClr val="bg1"/>
                </a:solidFill>
                <a:latin typeface="Calibri" pitchFamily="34" charset="0"/>
                <a:ea typeface="Calibri" pitchFamily="34" charset="-122"/>
                <a:cs typeface="Calibri" pitchFamily="34" charset="-120"/>
              </a:rPr>
              <a:t>adds the bearer token, renews on 401</a:t>
            </a:r>
            <a:endParaRPr lang="en-US" sz="1400" dirty="0"/>
          </a:p>
        </p:txBody>
      </p:sp>
      <p:sp>
        <p:nvSpPr>
          <p:cNvPr id="15" name="http arrow 4"/>
          <p:cNvSpPr txBox="1"/>
          <p:nvPr/>
        </p:nvSpPr>
        <p:spPr>
          <a:xfrm>
            <a:off x="6867144" y="1783080"/>
            <a:ext cx="246888" cy="365760"/>
          </a:xfrm>
          <a:prstGeom prst="rect">
            <a:avLst/>
          </a:prstGeom>
          <a:noFill/>
          <a:ln/>
        </p:spPr>
        <p:txBody>
          <a:bodyPr wrap="square" lIns="0" tIns="0" rIns="0" bIns="0" rtlCol="0" anchor="ctr"/>
          <a:lstStyle/>
          <a:p>
            <a:pPr algn="ctr" indent="0" marL="0">
              <a:buNone/>
            </a:pPr>
            <a:r>
              <a:rPr lang="en-US" sz="1200" dirty="0">
                <a:solidFill>
                  <a:schemeClr val="accent5"/>
                </a:solidFill>
              </a:rPr>
              <a:t>▶</a:t>
            </a:r>
            <a:endParaRPr lang="en-US" sz="1200" dirty="0"/>
          </a:p>
        </p:txBody>
      </p:sp>
      <p:sp>
        <p:nvSpPr>
          <p:cNvPr id="16" name="http 5 bg"/>
          <p:cNvSpPr/>
          <p:nvPr/>
        </p:nvSpPr>
        <p:spPr>
          <a:xfrm>
            <a:off x="7114032" y="1280160"/>
            <a:ext cx="1417320" cy="1554480"/>
          </a:xfrm>
          <a:prstGeom prst="roundRect">
            <a:avLst>
              <a:gd name="adj" fmla="val 6452"/>
            </a:avLst>
          </a:prstGeom>
          <a:solidFill>
            <a:schemeClr val="bg2"/>
          </a:solidFill>
          <a:ln w="12700">
            <a:solidFill>
              <a:schemeClr val="bg2"/>
            </a:solidFill>
            <a:prstDash val="solid"/>
          </a:ln>
        </p:spPr>
      </p:sp>
      <p:sp>
        <p:nvSpPr>
          <p:cNvPr id="17" name="http 5 text"/>
          <p:cNvSpPr txBox="1"/>
          <p:nvPr/>
        </p:nvSpPr>
        <p:spPr>
          <a:xfrm>
            <a:off x="7205472" y="1371600"/>
            <a:ext cx="1234440" cy="1371600"/>
          </a:xfrm>
          <a:prstGeom prst="rect">
            <a:avLst/>
          </a:prstGeom>
          <a:noFill/>
          <a:ln/>
        </p:spPr>
        <p:txBody>
          <a:bodyPr wrap="square" lIns="0" tIns="0" rIns="0" bIns="0" rtlCol="0" anchor="t"/>
          <a:lstStyle/>
          <a:p>
            <a:pPr algn="l" indent="0" marL="0">
              <a:buNone/>
            </a:pPr>
            <a:r>
              <a:rPr lang="en-US" sz="1400" b="1" dirty="0">
                <a:solidFill>
                  <a:schemeClr val="tx2"/>
                </a:solidFill>
                <a:latin typeface="Cambria" pitchFamily="34" charset="0"/>
                <a:ea typeface="Cambria" pitchFamily="34" charset="-122"/>
                <a:cs typeface="Cambria" pitchFamily="34" charset="-120"/>
              </a:rPr>
              <a:t>Backend</a:t>
            </a:r>
            <a:endParaRPr lang="en-US" sz="1400" dirty="0"/>
          </a:p>
          <a:p>
            <a:pPr algn="l" indent="0" marL="0">
              <a:buNone/>
            </a:pPr>
            <a:r>
              <a:rPr lang="en-US" sz="1400" dirty="0">
                <a:solidFill>
                  <a:schemeClr val="tx1"/>
                </a:solidFill>
                <a:latin typeface="Calibri" pitchFamily="34" charset="0"/>
                <a:ea typeface="Calibri" pitchFamily="34" charset="-122"/>
                <a:cs typeface="Calibri" pitchFamily="34" charset="-120"/>
              </a:rPr>
              <a:t>ports 3000 and 8081</a:t>
            </a:r>
            <a:endParaRPr lang="en-US" sz="1400" dirty="0"/>
          </a:p>
        </p:txBody>
      </p:sp>
      <p:sp>
        <p:nvSpPr>
          <p:cNvPr id="18" name="generated card bg"/>
          <p:cNvSpPr/>
          <p:nvPr/>
        </p:nvSpPr>
        <p:spPr>
          <a:xfrm>
            <a:off x="457200" y="3063240"/>
            <a:ext cx="2651760" cy="1600200"/>
          </a:xfrm>
          <a:prstGeom prst="roundRect">
            <a:avLst>
              <a:gd name="adj" fmla="val 5714"/>
            </a:avLst>
          </a:prstGeom>
          <a:solidFill>
            <a:schemeClr val="bg2"/>
          </a:solidFill>
          <a:ln w="12700">
            <a:solidFill>
              <a:schemeClr val="bg2"/>
            </a:solidFill>
            <a:prstDash val="solid"/>
          </a:ln>
        </p:spPr>
      </p:sp>
      <p:sp>
        <p:nvSpPr>
          <p:cNvPr id="19" name="generated card head"/>
          <p:cNvSpPr txBox="1"/>
          <p:nvPr/>
        </p:nvSpPr>
        <p:spPr>
          <a:xfrm>
            <a:off x="640080" y="3172968"/>
            <a:ext cx="2286000" cy="36576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Generated</a:t>
            </a:r>
            <a:endParaRPr lang="en-US" sz="1600" dirty="0"/>
          </a:p>
        </p:txBody>
      </p:sp>
      <p:sp>
        <p:nvSpPr>
          <p:cNvPr id="20" name="generated card body"/>
          <p:cNvSpPr txBox="1"/>
          <p:nvPr/>
        </p:nvSpPr>
        <p:spPr>
          <a:xfrm>
            <a:off x="640080" y="3566160"/>
            <a:ext cx="228600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npm run generate:clients writes models and services. Types match the contract; needs Java.</a:t>
            </a:r>
            <a:endParaRPr lang="en-US" sz="1400" dirty="0"/>
          </a:p>
        </p:txBody>
      </p:sp>
      <p:sp>
        <p:nvSpPr>
          <p:cNvPr id="21" name="handwritten card bg"/>
          <p:cNvSpPr/>
          <p:nvPr/>
        </p:nvSpPr>
        <p:spPr>
          <a:xfrm>
            <a:off x="3246120" y="3063240"/>
            <a:ext cx="2651760" cy="1600200"/>
          </a:xfrm>
          <a:prstGeom prst="roundRect">
            <a:avLst>
              <a:gd name="adj" fmla="val 5714"/>
            </a:avLst>
          </a:prstGeom>
          <a:solidFill>
            <a:schemeClr val="bg2"/>
          </a:solidFill>
          <a:ln w="12700">
            <a:solidFill>
              <a:schemeClr val="bg2"/>
            </a:solidFill>
            <a:prstDash val="solid"/>
          </a:ln>
        </p:spPr>
      </p:sp>
      <p:sp>
        <p:nvSpPr>
          <p:cNvPr id="22" name="handwritten card head"/>
          <p:cNvSpPr txBox="1"/>
          <p:nvPr/>
        </p:nvSpPr>
        <p:spPr>
          <a:xfrm>
            <a:off x="3429000" y="3172968"/>
            <a:ext cx="2286000" cy="36576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Hand-written</a:t>
            </a:r>
            <a:endParaRPr lang="en-US" sz="1600" dirty="0"/>
          </a:p>
        </p:txBody>
      </p:sp>
      <p:sp>
        <p:nvSpPr>
          <p:cNvPr id="23" name="handwritten card body"/>
          <p:cNvSpPr txBox="1"/>
          <p:nvPr/>
        </p:nvSpPr>
        <p:spPr>
          <a:xfrm>
            <a:off x="3429000" y="3566160"/>
            <a:ext cx="228600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Market, portfolio and bank-read are not in the contract, so they use HttpClient directly.</a:t>
            </a:r>
            <a:endParaRPr lang="en-US" sz="1400" dirty="0"/>
          </a:p>
        </p:txBody>
      </p:sp>
      <p:sp>
        <p:nvSpPr>
          <p:cNvPr id="24" name="errors card bg"/>
          <p:cNvSpPr/>
          <p:nvPr/>
        </p:nvSpPr>
        <p:spPr>
          <a:xfrm>
            <a:off x="6035040" y="3063240"/>
            <a:ext cx="2651760" cy="1600200"/>
          </a:xfrm>
          <a:prstGeom prst="roundRect">
            <a:avLst>
              <a:gd name="adj" fmla="val 5714"/>
            </a:avLst>
          </a:prstGeom>
          <a:solidFill>
            <a:schemeClr val="bg2"/>
          </a:solidFill>
          <a:ln w="12700">
            <a:solidFill>
              <a:schemeClr val="bg2"/>
            </a:solidFill>
            <a:prstDash val="solid"/>
          </a:ln>
        </p:spPr>
      </p:sp>
      <p:sp>
        <p:nvSpPr>
          <p:cNvPr id="25" name="errors card head"/>
          <p:cNvSpPr txBox="1"/>
          <p:nvPr/>
        </p:nvSpPr>
        <p:spPr>
          <a:xfrm>
            <a:off x="6217920" y="3172968"/>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Errors</a:t>
            </a:r>
            <a:endParaRPr lang="en-US" sz="1600" dirty="0"/>
          </a:p>
        </p:txBody>
      </p:sp>
      <p:sp>
        <p:nvSpPr>
          <p:cNvPr id="26" name="errors card body"/>
          <p:cNvSpPr txBox="1"/>
          <p:nvPr/>
        </p:nvSpPr>
        <p:spPr>
          <a:xfrm>
            <a:off x="6217920" y="3566160"/>
            <a:ext cx="228600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errorCode, message } maps to a friendly sentence in error-catalog.ts.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token-renewal flow (401)</a:t>
            </a:r>
            <a:endParaRPr lang="en-US" sz="3200" dirty="0"/>
          </a:p>
        </p:txBody>
      </p:sp>
      <p:sp>
        <p:nvSpPr>
          <p:cNvPr id="4" name="renew 1 dot"/>
          <p:cNvSpPr/>
          <p:nvPr/>
        </p:nvSpPr>
        <p:spPr>
          <a:xfrm>
            <a:off x="457200" y="1207008"/>
            <a:ext cx="411480" cy="411480"/>
          </a:xfrm>
          <a:prstGeom prst="ellipse">
            <a:avLst/>
          </a:prstGeom>
          <a:solidFill>
            <a:schemeClr val="accent2"/>
          </a:solidFill>
          <a:ln w="12700">
            <a:solidFill>
              <a:schemeClr val="accent2"/>
            </a:solidFill>
            <a:prstDash val="solid"/>
          </a:ln>
        </p:spPr>
      </p:sp>
      <p:sp>
        <p:nvSpPr>
          <p:cNvPr id="5" name="renew 1 dot label"/>
          <p:cNvSpPr txBox="1"/>
          <p:nvPr/>
        </p:nvSpPr>
        <p:spPr>
          <a:xfrm>
            <a:off x="457200" y="12070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renew 1 text"/>
          <p:cNvSpPr txBox="1"/>
          <p:nvPr/>
        </p:nvSpPr>
        <p:spPr>
          <a:xfrm>
            <a:off x="1005840" y="1143000"/>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request comes back 401</a:t>
            </a:r>
            <a:endParaRPr lang="en-US" sz="1500" dirty="0"/>
          </a:p>
        </p:txBody>
      </p:sp>
      <p:sp>
        <p:nvSpPr>
          <p:cNvPr id="7" name="renew 2 dot"/>
          <p:cNvSpPr/>
          <p:nvPr/>
        </p:nvSpPr>
        <p:spPr>
          <a:xfrm>
            <a:off x="457200" y="1911096"/>
            <a:ext cx="411480" cy="411480"/>
          </a:xfrm>
          <a:prstGeom prst="ellipse">
            <a:avLst/>
          </a:prstGeom>
          <a:solidFill>
            <a:schemeClr val="accent2"/>
          </a:solidFill>
          <a:ln w="12700">
            <a:solidFill>
              <a:schemeClr val="accent2"/>
            </a:solidFill>
            <a:prstDash val="solid"/>
          </a:ln>
        </p:spPr>
      </p:sp>
      <p:sp>
        <p:nvSpPr>
          <p:cNvPr id="8" name="renew 2 dot label"/>
          <p:cNvSpPr txBox="1"/>
          <p:nvPr/>
        </p:nvSpPr>
        <p:spPr>
          <a:xfrm>
            <a:off x="457200" y="191109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9" name="renew 2 text"/>
          <p:cNvSpPr txBox="1"/>
          <p:nvPr/>
        </p:nvSpPr>
        <p:spPr>
          <a:xfrm>
            <a:off x="1005840" y="1847088"/>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No refresh token? End session, go to /login</a:t>
            </a:r>
            <a:endParaRPr lang="en-US" sz="1500" dirty="0"/>
          </a:p>
        </p:txBody>
      </p:sp>
      <p:sp>
        <p:nvSpPr>
          <p:cNvPr id="10" name="renew 3 dot"/>
          <p:cNvSpPr/>
          <p:nvPr/>
        </p:nvSpPr>
        <p:spPr>
          <a:xfrm>
            <a:off x="457200" y="2615184"/>
            <a:ext cx="411480" cy="411480"/>
          </a:xfrm>
          <a:prstGeom prst="ellipse">
            <a:avLst/>
          </a:prstGeom>
          <a:solidFill>
            <a:schemeClr val="accent2"/>
          </a:solidFill>
          <a:ln w="12700">
            <a:solidFill>
              <a:schemeClr val="accent2"/>
            </a:solidFill>
            <a:prstDash val="solid"/>
          </a:ln>
        </p:spPr>
      </p:sp>
      <p:sp>
        <p:nvSpPr>
          <p:cNvPr id="11" name="renew 3 dot label"/>
          <p:cNvSpPr txBox="1"/>
          <p:nvPr/>
        </p:nvSpPr>
        <p:spPr>
          <a:xfrm>
            <a:off x="457200" y="26151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2" name="renew 3 text"/>
          <p:cNvSpPr txBox="1"/>
          <p:nvPr/>
        </p:nvSpPr>
        <p:spPr>
          <a:xfrm>
            <a:off x="1005840" y="2551176"/>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Else call /auth/refresh: one shared call</a:t>
            </a:r>
            <a:endParaRPr lang="en-US" sz="1500" dirty="0"/>
          </a:p>
        </p:txBody>
      </p:sp>
      <p:sp>
        <p:nvSpPr>
          <p:cNvPr id="13" name="renew 4 dot"/>
          <p:cNvSpPr/>
          <p:nvPr/>
        </p:nvSpPr>
        <p:spPr>
          <a:xfrm>
            <a:off x="457200" y="3319272"/>
            <a:ext cx="411480" cy="411480"/>
          </a:xfrm>
          <a:prstGeom prst="ellipse">
            <a:avLst/>
          </a:prstGeom>
          <a:solidFill>
            <a:schemeClr val="accent2"/>
          </a:solidFill>
          <a:ln w="12700">
            <a:solidFill>
              <a:schemeClr val="accent2"/>
            </a:solidFill>
            <a:prstDash val="solid"/>
          </a:ln>
        </p:spPr>
      </p:sp>
      <p:sp>
        <p:nvSpPr>
          <p:cNvPr id="14" name="renew 4 dot label"/>
          <p:cNvSpPr txBox="1"/>
          <p:nvPr/>
        </p:nvSpPr>
        <p:spPr>
          <a:xfrm>
            <a:off x="457200" y="331927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5" name="renew 4 text"/>
          <p:cNvSpPr txBox="1"/>
          <p:nvPr/>
        </p:nvSpPr>
        <p:spPr>
          <a:xfrm>
            <a:off x="1005840" y="3255264"/>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Store new tokens, retry the request once</a:t>
            </a:r>
            <a:endParaRPr lang="en-US" sz="1500" dirty="0"/>
          </a:p>
        </p:txBody>
      </p:sp>
      <p:sp>
        <p:nvSpPr>
          <p:cNvPr id="16" name="renew 5 dot"/>
          <p:cNvSpPr/>
          <p:nvPr/>
        </p:nvSpPr>
        <p:spPr>
          <a:xfrm>
            <a:off x="457200" y="4023360"/>
            <a:ext cx="411480" cy="411480"/>
          </a:xfrm>
          <a:prstGeom prst="ellipse">
            <a:avLst/>
          </a:prstGeom>
          <a:solidFill>
            <a:schemeClr val="accent2"/>
          </a:solidFill>
          <a:ln w="12700">
            <a:solidFill>
              <a:schemeClr val="accent2"/>
            </a:solidFill>
            <a:prstDash val="solid"/>
          </a:ln>
        </p:spPr>
      </p:sp>
      <p:sp>
        <p:nvSpPr>
          <p:cNvPr id="17" name="renew 5 dot label"/>
          <p:cNvSpPr txBox="1"/>
          <p:nvPr/>
        </p:nvSpPr>
        <p:spPr>
          <a:xfrm>
            <a:off x="45720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18" name="renew 5 text"/>
          <p:cNvSpPr txBox="1"/>
          <p:nvPr/>
        </p:nvSpPr>
        <p:spPr>
          <a:xfrm>
            <a:off x="1005840" y="3959352"/>
            <a:ext cx="448056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Retry still 401? End session. Any other error passes through</a:t>
            </a:r>
            <a:endParaRPr lang="en-US" sz="1500" dirty="0"/>
          </a:p>
        </p:txBody>
      </p:sp>
      <p:sp>
        <p:nvSpPr>
          <p:cNvPr id="19" name="why shared bg"/>
          <p:cNvSpPr/>
          <p:nvPr/>
        </p:nvSpPr>
        <p:spPr>
          <a:xfrm>
            <a:off x="5715000" y="1143000"/>
            <a:ext cx="2971800" cy="3520440"/>
          </a:xfrm>
          <a:prstGeom prst="roundRect">
            <a:avLst>
              <a:gd name="adj" fmla="val 3077"/>
            </a:avLst>
          </a:prstGeom>
          <a:solidFill>
            <a:schemeClr val="tx2"/>
          </a:solidFill>
          <a:ln w="12700">
            <a:solidFill>
              <a:schemeClr val="tx2"/>
            </a:solidFill>
            <a:prstDash val="solid"/>
          </a:ln>
        </p:spPr>
      </p:sp>
      <p:sp>
        <p:nvSpPr>
          <p:cNvPr id="20" name="why shared text"/>
          <p:cNvSpPr txBox="1"/>
          <p:nvPr/>
        </p:nvSpPr>
        <p:spPr>
          <a:xfrm>
            <a:off x="5897880" y="1280160"/>
            <a:ext cx="2606040" cy="324612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Why one shared call?</a:t>
            </a:r>
            <a:endParaRPr lang="en-US" sz="1700" dirty="0"/>
          </a:p>
          <a:p>
            <a:pPr indent="0" marL="0">
              <a:buNone/>
            </a:pPr>
            <a:r>
              <a:rPr lang="en-US" sz="800" dirty="0">
                <a:solidFill>
                  <a:srgbClr val="000000"/>
                </a:solidFill>
              </a:rPr>
              <a:t> </a:t>
            </a:r>
            <a:endParaRPr lang="en-US" sz="1700" dirty="0"/>
          </a:p>
          <a:p>
            <a:pPr indent="0" marL="0">
              <a:buNone/>
            </a:pPr>
            <a:r>
              <a:rPr lang="en-US" sz="1400" dirty="0">
                <a:solidFill>
                  <a:schemeClr val="bg1"/>
                </a:solidFill>
                <a:latin typeface="Calibri" pitchFamily="34" charset="0"/>
                <a:ea typeface="Calibri" pitchFamily="34" charset="-122"/>
                <a:cs typeface="Calibri" pitchFamily="34" charset="-120"/>
              </a:rPr>
              <a:t>Refresh tokens rotate: using one revokes it.</a:t>
            </a:r>
            <a:endParaRPr lang="en-US" sz="1700" dirty="0"/>
          </a:p>
          <a:p>
            <a:pPr indent="0" marL="0">
              <a:buNone/>
            </a:pPr>
            <a:r>
              <a:rPr lang="en-US" sz="800" dirty="0">
                <a:solidFill>
                  <a:srgbClr val="000000"/>
                </a:solidFill>
              </a:rPr>
              <a:t> </a:t>
            </a:r>
            <a:endParaRPr lang="en-US" sz="1700" dirty="0"/>
          </a:p>
          <a:p>
            <a:pPr indent="0" marL="0">
              <a:buNone/>
            </a:pPr>
            <a:r>
              <a:rPr lang="en-US" sz="1400" dirty="0">
                <a:solidFill>
                  <a:schemeClr val="bg1"/>
                </a:solidFill>
                <a:latin typeface="Calibri" pitchFamily="34" charset="0"/>
                <a:ea typeface="Calibri" pitchFamily="34" charset="-122"/>
                <a:cs typeface="Calibri" pitchFamily="34" charset="-120"/>
              </a:rPr>
              <a:t>Two parallel renewals present a spent token. The server reads that as theft and signs the user out everywhere.</a:t>
            </a:r>
            <a:endParaRPr lang="en-US" sz="1700" dirty="0"/>
          </a:p>
          <a:p>
            <a:pPr indent="0" marL="0">
              <a:buNone/>
            </a:pPr>
            <a:r>
              <a:rPr lang="en-US" sz="800" dirty="0">
                <a:solidFill>
                  <a:srgbClr val="000000"/>
                </a:solidFill>
              </a:rPr>
              <a:t> </a:t>
            </a:r>
            <a:endParaRPr lang="en-US" sz="1700" dirty="0"/>
          </a:p>
          <a:p>
            <a:pPr indent="0" marL="0">
              <a:buNone/>
            </a:pPr>
            <a:r>
              <a:rPr lang="en-US" sz="1200" dirty="0">
                <a:solidFill>
                  <a:schemeClr val="accent4"/>
                </a:solidFill>
                <a:latin typeface="Courier New" pitchFamily="34" charset="0"/>
                <a:ea typeface="Courier New" pitchFamily="34" charset="-122"/>
                <a:cs typeface="Courier New" pitchFamily="34" charset="-120"/>
              </a:rPr>
              <a:t>renewOnce + shareReplay</a:t>
            </a:r>
            <a:endParaRPr lang="en-US" sz="17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RxJS: streams, in one slide</a:t>
            </a:r>
            <a:endParaRPr lang="en-US" sz="3200" dirty="0"/>
          </a:p>
        </p:txBody>
      </p:sp>
      <p:sp>
        <p:nvSpPr>
          <p:cNvPr id="4" name="polling code bg"/>
          <p:cNvSpPr/>
          <p:nvPr/>
        </p:nvSpPr>
        <p:spPr>
          <a:xfrm>
            <a:off x="457200" y="1143000"/>
            <a:ext cx="4572000" cy="2377440"/>
          </a:xfrm>
          <a:prstGeom prst="roundRect">
            <a:avLst>
              <a:gd name="adj" fmla="val 3077"/>
            </a:avLst>
          </a:prstGeom>
          <a:solidFill>
            <a:schemeClr val="tx1"/>
          </a:solidFill>
          <a:ln w="12700">
            <a:solidFill>
              <a:schemeClr val="tx1"/>
            </a:solidFill>
            <a:prstDash val="solid"/>
          </a:ln>
        </p:spPr>
      </p:sp>
      <p:sp>
        <p:nvSpPr>
          <p:cNvPr id="5" name="polling code"/>
          <p:cNvSpPr txBox="1"/>
          <p:nvPr/>
        </p:nvSpPr>
        <p:spPr>
          <a:xfrm>
            <a:off x="594360" y="1234440"/>
            <a:ext cx="4297680" cy="219456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timer(0, 30_000).pipe(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switchMap(() =&gt;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this.marketApi.getQuotes().pipe(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catchError(() =&gt; of(null))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).subscribe(quotes =&gt;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if (quotes === null) { keep old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else { this.quotes.set(quotes) }</a:t>
            </a:r>
            <a:endParaRPr lang="en-US" sz="1200" dirty="0"/>
          </a:p>
          <a:p>
            <a:pPr indent="0" marL="0">
              <a:buNone/>
            </a:pPr>
            <a:r>
              <a:rPr lang="en-US" sz="1200" dirty="0">
                <a:solidFill>
                  <a:schemeClr val="accent4"/>
                </a:solidFill>
                <a:latin typeface="Courier New" pitchFamily="34" charset="0"/>
                <a:ea typeface="Courier New" pitchFamily="34" charset="-122"/>
                <a:cs typeface="Courier New" pitchFamily="34" charset="-120"/>
              </a:rPr>
              <a:t>});</a:t>
            </a:r>
            <a:endParaRPr lang="en-US" sz="1200" dirty="0"/>
          </a:p>
        </p:txBody>
      </p:sp>
      <p:sp>
        <p:nvSpPr>
          <p:cNvPr id="6" name="polling explanation"/>
          <p:cNvSpPr txBox="1"/>
          <p:nvPr/>
        </p:nvSpPr>
        <p:spPr>
          <a:xfrm>
            <a:off x="457200" y="3657600"/>
            <a:ext cx="457200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Now and every 30 s, fetch. A failure becomes null so the timer survives. A newer fetch cancels an older one.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257800" y="1143000"/>
          <a:ext cx="3429000" cy="914400"/>
        </p:xfrm>
        <a:graphic>
          <a:graphicData uri="http://schemas.openxmlformats.org/drawingml/2006/table">
            <a:tbl>
              <a:tblPr/>
              <a:tblGrid>
                <a:gridCol w="1417320"/>
                <a:gridCol w="201168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Operator</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Does</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548640">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switchMap</a:t>
                      </a:r>
                      <a:endParaRPr lang="en-US" sz="1100" dirty="0">
                        <a:latin typeface="Courier New" charset="0"/>
                        <a:ea typeface="Courier New" charset="0"/>
                        <a:cs typeface="Courier New"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New inner stream, cancel old</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48640">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catchError</a:t>
                      </a:r>
                      <a:endParaRPr lang="en-US" sz="1100" dirty="0">
                        <a:latin typeface="Courier New" charset="0"/>
                        <a:ea typeface="Courier New" charset="0"/>
                        <a:cs typeface="Courier New"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Error becomes a fallback</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48640">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forkJoin</a:t>
                      </a:r>
                      <a:endParaRPr lang="en-US" sz="1100" dirty="0">
                        <a:latin typeface="Courier New" charset="0"/>
                        <a:ea typeface="Courier New" charset="0"/>
                        <a:cs typeface="Courier New"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Parallel calls, one result</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48640">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shareReplay</a:t>
                      </a:r>
                      <a:endParaRPr lang="en-US" sz="1100" dirty="0">
                        <a:latin typeface="Courier New" charset="0"/>
                        <a:ea typeface="Courier New" charset="0"/>
                        <a:cs typeface="Courier New"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Share one execution</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548640">
                <a:tc>
                  <a:txBody>
                    <a:bodyPr/>
                    <a:lstStyle/>
                    <a:p>
                      <a:pPr indent="0" marL="0">
                        <a:buNone/>
                      </a:pPr>
                      <a:r>
                        <a:rPr lang="en-US" sz="1100" dirty="0">
                          <a:solidFill>
                            <a:schemeClr val="accent1"/>
                          </a:solidFill>
                          <a:latin typeface="Courier New" pitchFamily="34" charset="0"/>
                          <a:ea typeface="Courier New" pitchFamily="34" charset="-122"/>
                          <a:cs typeface="Courier New" pitchFamily="34" charset="-120"/>
                        </a:rPr>
                        <a:t>timer</a:t>
                      </a:r>
                      <a:endParaRPr lang="en-US" sz="1100" dirty="0">
                        <a:latin typeface="Courier New" charset="0"/>
                        <a:ea typeface="Courier New" charset="0"/>
                        <a:cs typeface="Courier New"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Now, then every N ms</a:t>
                      </a:r>
                      <a:endParaRPr lang="en-US" sz="1400" dirty="0">
                        <a:latin typeface="Calibri" charset="0"/>
                        <a:ea typeface="Calibri" charset="0"/>
                        <a:cs typeface="Calibri" charset="0"/>
                      </a:endParaRPr>
                    </a:p>
                  </a:txBody>
                  <a:tcPr marL="73152" marR="73152"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Placing an order, end to end</a:t>
            </a:r>
            <a:endParaRPr lang="en-US" sz="3200" dirty="0"/>
          </a:p>
        </p:txBody>
      </p:sp>
      <p:sp>
        <p:nvSpPr>
          <p:cNvPr id="4" name="order 1 bg"/>
          <p:cNvSpPr/>
          <p:nvPr/>
        </p:nvSpPr>
        <p:spPr>
          <a:xfrm>
            <a:off x="457200" y="1188720"/>
            <a:ext cx="2651760" cy="1645920"/>
          </a:xfrm>
          <a:prstGeom prst="roundRect">
            <a:avLst>
              <a:gd name="adj" fmla="val 5556"/>
            </a:avLst>
          </a:prstGeom>
          <a:solidFill>
            <a:schemeClr val="bg2"/>
          </a:solidFill>
          <a:ln w="12700">
            <a:solidFill>
              <a:schemeClr val="bg2"/>
            </a:solidFill>
            <a:prstDash val="solid"/>
          </a:ln>
        </p:spPr>
      </p:sp>
      <p:sp>
        <p:nvSpPr>
          <p:cNvPr id="5" name="order 1 dot"/>
          <p:cNvSpPr/>
          <p:nvPr/>
        </p:nvSpPr>
        <p:spPr>
          <a:xfrm>
            <a:off x="594360" y="1325880"/>
            <a:ext cx="365760" cy="365760"/>
          </a:xfrm>
          <a:prstGeom prst="ellipse">
            <a:avLst/>
          </a:prstGeom>
          <a:solidFill>
            <a:schemeClr val="accent2"/>
          </a:solidFill>
          <a:ln w="12700">
            <a:solidFill>
              <a:schemeClr val="accent2"/>
            </a:solidFill>
            <a:prstDash val="solid"/>
          </a:ln>
        </p:spPr>
      </p:sp>
      <p:sp>
        <p:nvSpPr>
          <p:cNvPr id="6" name="order 1 dot label"/>
          <p:cNvSpPr txBox="1"/>
          <p:nvPr/>
        </p:nvSpPr>
        <p:spPr>
          <a:xfrm>
            <a:off x="594360"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order 1 name"/>
          <p:cNvSpPr txBox="1"/>
          <p:nvPr/>
        </p:nvSpPr>
        <p:spPr>
          <a:xfrm>
            <a:off x="1097280" y="1325880"/>
            <a:ext cx="18288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Load</a:t>
            </a:r>
            <a:endParaRPr lang="en-US" sz="1600" dirty="0"/>
          </a:p>
        </p:txBody>
      </p:sp>
      <p:sp>
        <p:nvSpPr>
          <p:cNvPr id="8" name="order 1 body"/>
          <p:cNvSpPr txBox="1"/>
          <p:nvPr/>
        </p:nvSpPr>
        <p:spPr>
          <a:xfrm>
            <a:off x="594360" y="1828800"/>
            <a:ext cx="23774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Quotes every 30 s; balance and holdings via forkJoin</a:t>
            </a:r>
            <a:endParaRPr lang="en-US" sz="1400" dirty="0"/>
          </a:p>
        </p:txBody>
      </p:sp>
      <p:sp>
        <p:nvSpPr>
          <p:cNvPr id="9" name="order 2 bg"/>
          <p:cNvSpPr/>
          <p:nvPr/>
        </p:nvSpPr>
        <p:spPr>
          <a:xfrm>
            <a:off x="3246120" y="1188720"/>
            <a:ext cx="2651760" cy="1645920"/>
          </a:xfrm>
          <a:prstGeom prst="roundRect">
            <a:avLst>
              <a:gd name="adj" fmla="val 5556"/>
            </a:avLst>
          </a:prstGeom>
          <a:solidFill>
            <a:schemeClr val="bg2"/>
          </a:solidFill>
          <a:ln w="12700">
            <a:solidFill>
              <a:schemeClr val="bg2"/>
            </a:solidFill>
            <a:prstDash val="solid"/>
          </a:ln>
        </p:spPr>
      </p:sp>
      <p:sp>
        <p:nvSpPr>
          <p:cNvPr id="10" name="order 2 dot"/>
          <p:cNvSpPr/>
          <p:nvPr/>
        </p:nvSpPr>
        <p:spPr>
          <a:xfrm>
            <a:off x="3383280" y="1325880"/>
            <a:ext cx="365760" cy="365760"/>
          </a:xfrm>
          <a:prstGeom prst="ellipse">
            <a:avLst/>
          </a:prstGeom>
          <a:solidFill>
            <a:schemeClr val="accent2"/>
          </a:solidFill>
          <a:ln w="12700">
            <a:solidFill>
              <a:schemeClr val="accent2"/>
            </a:solidFill>
            <a:prstDash val="solid"/>
          </a:ln>
        </p:spPr>
      </p:sp>
      <p:sp>
        <p:nvSpPr>
          <p:cNvPr id="11" name="order 2 dot label"/>
          <p:cNvSpPr txBox="1"/>
          <p:nvPr/>
        </p:nvSpPr>
        <p:spPr>
          <a:xfrm>
            <a:off x="3383280"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order 2 name"/>
          <p:cNvSpPr txBox="1"/>
          <p:nvPr/>
        </p:nvSpPr>
        <p:spPr>
          <a:xfrm>
            <a:off x="3886200" y="1325880"/>
            <a:ext cx="18288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Type</a:t>
            </a:r>
            <a:endParaRPr lang="en-US" sz="1600" dirty="0"/>
          </a:p>
        </p:txBody>
      </p:sp>
      <p:sp>
        <p:nvSpPr>
          <p:cNvPr id="13" name="order 2 body"/>
          <p:cNvSpPr txBox="1"/>
          <p:nvPr/>
        </p:nvSpPr>
        <p:spPr>
          <a:xfrm>
            <a:off x="3383280" y="1828800"/>
            <a:ext cx="23774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Quantity drives computed total and blocker</a:t>
            </a:r>
            <a:endParaRPr lang="en-US" sz="1400" dirty="0"/>
          </a:p>
        </p:txBody>
      </p:sp>
      <p:sp>
        <p:nvSpPr>
          <p:cNvPr id="14" name="order 3 bg"/>
          <p:cNvSpPr/>
          <p:nvPr/>
        </p:nvSpPr>
        <p:spPr>
          <a:xfrm>
            <a:off x="6035040" y="1188720"/>
            <a:ext cx="2651760" cy="1645920"/>
          </a:xfrm>
          <a:prstGeom prst="roundRect">
            <a:avLst>
              <a:gd name="adj" fmla="val 5556"/>
            </a:avLst>
          </a:prstGeom>
          <a:solidFill>
            <a:schemeClr val="bg2"/>
          </a:solidFill>
          <a:ln w="12700">
            <a:solidFill>
              <a:schemeClr val="bg2"/>
            </a:solidFill>
            <a:prstDash val="solid"/>
          </a:ln>
        </p:spPr>
      </p:sp>
      <p:sp>
        <p:nvSpPr>
          <p:cNvPr id="15" name="order 3 dot"/>
          <p:cNvSpPr/>
          <p:nvPr/>
        </p:nvSpPr>
        <p:spPr>
          <a:xfrm>
            <a:off x="6172200" y="1325880"/>
            <a:ext cx="365760" cy="365760"/>
          </a:xfrm>
          <a:prstGeom prst="ellipse">
            <a:avLst/>
          </a:prstGeom>
          <a:solidFill>
            <a:schemeClr val="accent2"/>
          </a:solidFill>
          <a:ln w="12700">
            <a:solidFill>
              <a:schemeClr val="accent2"/>
            </a:solidFill>
            <a:prstDash val="solid"/>
          </a:ln>
        </p:spPr>
      </p:sp>
      <p:sp>
        <p:nvSpPr>
          <p:cNvPr id="16" name="order 3 dot label"/>
          <p:cNvSpPr txBox="1"/>
          <p:nvPr/>
        </p:nvSpPr>
        <p:spPr>
          <a:xfrm>
            <a:off x="6172200"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7" name="order 3 name"/>
          <p:cNvSpPr txBox="1"/>
          <p:nvPr/>
        </p:nvSpPr>
        <p:spPr>
          <a:xfrm>
            <a:off x="6675120" y="1325880"/>
            <a:ext cx="18288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Limit</a:t>
            </a:r>
            <a:endParaRPr lang="en-US" sz="1600" dirty="0"/>
          </a:p>
        </p:txBody>
      </p:sp>
      <p:sp>
        <p:nvSpPr>
          <p:cNvPr id="18" name="order 3 body"/>
          <p:cNvSpPr txBox="1"/>
          <p:nvPr/>
        </p:nvSpPr>
        <p:spPr>
          <a:xfrm>
            <a:off x="6172200" y="1828800"/>
            <a:ext cx="23774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Ask or bid padded 2 percent (PRICE_PROTECTION)</a:t>
            </a:r>
            <a:endParaRPr lang="en-US" sz="1400" dirty="0"/>
          </a:p>
        </p:txBody>
      </p:sp>
      <p:sp>
        <p:nvSpPr>
          <p:cNvPr id="19" name="order 4 bg"/>
          <p:cNvSpPr/>
          <p:nvPr/>
        </p:nvSpPr>
        <p:spPr>
          <a:xfrm>
            <a:off x="457200" y="2971800"/>
            <a:ext cx="2651760" cy="1645920"/>
          </a:xfrm>
          <a:prstGeom prst="roundRect">
            <a:avLst>
              <a:gd name="adj" fmla="val 5556"/>
            </a:avLst>
          </a:prstGeom>
          <a:solidFill>
            <a:schemeClr val="bg2"/>
          </a:solidFill>
          <a:ln w="12700">
            <a:solidFill>
              <a:schemeClr val="bg2"/>
            </a:solidFill>
            <a:prstDash val="solid"/>
          </a:ln>
        </p:spPr>
      </p:sp>
      <p:sp>
        <p:nvSpPr>
          <p:cNvPr id="20" name="order 4 dot"/>
          <p:cNvSpPr/>
          <p:nvPr/>
        </p:nvSpPr>
        <p:spPr>
          <a:xfrm>
            <a:off x="594360" y="3108960"/>
            <a:ext cx="365760" cy="365760"/>
          </a:xfrm>
          <a:prstGeom prst="ellipse">
            <a:avLst/>
          </a:prstGeom>
          <a:solidFill>
            <a:schemeClr val="accent1"/>
          </a:solidFill>
          <a:ln w="12700">
            <a:solidFill>
              <a:schemeClr val="accent1"/>
            </a:solidFill>
            <a:prstDash val="solid"/>
          </a:ln>
        </p:spPr>
      </p:sp>
      <p:sp>
        <p:nvSpPr>
          <p:cNvPr id="21" name="order 4 dot label"/>
          <p:cNvSpPr txBox="1"/>
          <p:nvPr/>
        </p:nvSpPr>
        <p:spPr>
          <a:xfrm>
            <a:off x="594360" y="3108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2" name="order 4 name"/>
          <p:cNvSpPr txBox="1"/>
          <p:nvPr/>
        </p:nvSpPr>
        <p:spPr>
          <a:xfrm>
            <a:off x="1097280" y="3108960"/>
            <a:ext cx="18288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Submit</a:t>
            </a:r>
            <a:endParaRPr lang="en-US" sz="1600" dirty="0"/>
          </a:p>
        </p:txBody>
      </p:sp>
      <p:sp>
        <p:nvSpPr>
          <p:cNvPr id="23" name="order 4 body"/>
          <p:cNvSpPr txBox="1"/>
          <p:nvPr/>
        </p:nvSpPr>
        <p:spPr>
          <a:xfrm>
            <a:off x="594360" y="3611880"/>
            <a:ext cx="23774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placeOrder with a fresh idempotencyKey</a:t>
            </a:r>
            <a:endParaRPr lang="en-US" sz="1400" dirty="0"/>
          </a:p>
        </p:txBody>
      </p:sp>
      <p:sp>
        <p:nvSpPr>
          <p:cNvPr id="24" name="order 5 bg"/>
          <p:cNvSpPr/>
          <p:nvPr/>
        </p:nvSpPr>
        <p:spPr>
          <a:xfrm>
            <a:off x="3246120" y="2971800"/>
            <a:ext cx="2651760" cy="1645920"/>
          </a:xfrm>
          <a:prstGeom prst="roundRect">
            <a:avLst>
              <a:gd name="adj" fmla="val 5556"/>
            </a:avLst>
          </a:prstGeom>
          <a:solidFill>
            <a:schemeClr val="bg2"/>
          </a:solidFill>
          <a:ln w="12700">
            <a:solidFill>
              <a:schemeClr val="bg2"/>
            </a:solidFill>
            <a:prstDash val="solid"/>
          </a:ln>
        </p:spPr>
      </p:sp>
      <p:sp>
        <p:nvSpPr>
          <p:cNvPr id="25" name="order 5 dot"/>
          <p:cNvSpPr/>
          <p:nvPr/>
        </p:nvSpPr>
        <p:spPr>
          <a:xfrm>
            <a:off x="3383280" y="3108960"/>
            <a:ext cx="365760" cy="365760"/>
          </a:xfrm>
          <a:prstGeom prst="ellipse">
            <a:avLst/>
          </a:prstGeom>
          <a:solidFill>
            <a:schemeClr val="accent2"/>
          </a:solidFill>
          <a:ln w="12700">
            <a:solidFill>
              <a:schemeClr val="accent2"/>
            </a:solidFill>
            <a:prstDash val="solid"/>
          </a:ln>
        </p:spPr>
      </p:sp>
      <p:sp>
        <p:nvSpPr>
          <p:cNvPr id="26" name="order 5 dot label"/>
          <p:cNvSpPr txBox="1"/>
          <p:nvPr/>
        </p:nvSpPr>
        <p:spPr>
          <a:xfrm>
            <a:off x="3383280" y="3108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7" name="order 5 name"/>
          <p:cNvSpPr txBox="1"/>
          <p:nvPr/>
        </p:nvSpPr>
        <p:spPr>
          <a:xfrm>
            <a:off x="3886200" y="3108960"/>
            <a:ext cx="18288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Refresh</a:t>
            </a:r>
            <a:endParaRPr lang="en-US" sz="1600" dirty="0"/>
          </a:p>
        </p:txBody>
      </p:sp>
      <p:sp>
        <p:nvSpPr>
          <p:cNvPr id="28" name="order 5 body"/>
          <p:cNvSpPr txBox="1"/>
          <p:nvPr/>
        </p:nvSpPr>
        <p:spPr>
          <a:xfrm>
            <a:off x="3383280" y="3611880"/>
            <a:ext cx="23774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Reload cash and units, poll notifications now</a:t>
            </a:r>
            <a:endParaRPr lang="en-US" sz="1400" dirty="0"/>
          </a:p>
        </p:txBody>
      </p:sp>
      <p:sp>
        <p:nvSpPr>
          <p:cNvPr id="29" name="order 6 bg"/>
          <p:cNvSpPr/>
          <p:nvPr/>
        </p:nvSpPr>
        <p:spPr>
          <a:xfrm>
            <a:off x="6035040" y="2971800"/>
            <a:ext cx="2651760" cy="1645920"/>
          </a:xfrm>
          <a:prstGeom prst="roundRect">
            <a:avLst>
              <a:gd name="adj" fmla="val 5556"/>
            </a:avLst>
          </a:prstGeom>
          <a:solidFill>
            <a:schemeClr val="bg2"/>
          </a:solidFill>
          <a:ln w="12700">
            <a:solidFill>
              <a:schemeClr val="bg2"/>
            </a:solidFill>
            <a:prstDash val="solid"/>
          </a:ln>
        </p:spPr>
      </p:sp>
      <p:sp>
        <p:nvSpPr>
          <p:cNvPr id="30" name="order 6 dot"/>
          <p:cNvSpPr/>
          <p:nvPr/>
        </p:nvSpPr>
        <p:spPr>
          <a:xfrm>
            <a:off x="6172200" y="3108960"/>
            <a:ext cx="365760" cy="365760"/>
          </a:xfrm>
          <a:prstGeom prst="ellipse">
            <a:avLst/>
          </a:prstGeom>
          <a:solidFill>
            <a:schemeClr val="accent2"/>
          </a:solidFill>
          <a:ln w="12700">
            <a:solidFill>
              <a:schemeClr val="accent2"/>
            </a:solidFill>
            <a:prstDash val="solid"/>
          </a:ln>
        </p:spPr>
      </p:sp>
      <p:sp>
        <p:nvSpPr>
          <p:cNvPr id="31" name="order 6 dot label"/>
          <p:cNvSpPr txBox="1"/>
          <p:nvPr/>
        </p:nvSpPr>
        <p:spPr>
          <a:xfrm>
            <a:off x="6172200" y="3108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32" name="order 6 name"/>
          <p:cNvSpPr txBox="1"/>
          <p:nvPr/>
        </p:nvSpPr>
        <p:spPr>
          <a:xfrm>
            <a:off x="6675120" y="3108960"/>
            <a:ext cx="1828800" cy="36576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Fill</a:t>
            </a:r>
            <a:endParaRPr lang="en-US" sz="1600" dirty="0"/>
          </a:p>
        </p:txBody>
      </p:sp>
      <p:sp>
        <p:nvSpPr>
          <p:cNvPr id="33" name="order 6 body"/>
          <p:cNvSpPr txBox="1"/>
          <p:nvPr/>
        </p:nvSpPr>
        <p:spPr>
          <a:xfrm>
            <a:off x="6172200" y="3611880"/>
            <a:ext cx="23774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new notification bumps changes; pages reload</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Tests and build: what I verified</a:t>
            </a:r>
            <a:endParaRPr lang="en-US" sz="3200" dirty="0"/>
          </a:p>
        </p:txBody>
      </p:sp>
      <p:sp>
        <p:nvSpPr>
          <p:cNvPr id="4" name="stat 1 bg"/>
          <p:cNvSpPr/>
          <p:nvPr/>
        </p:nvSpPr>
        <p:spPr>
          <a:xfrm>
            <a:off x="457200" y="1188720"/>
            <a:ext cx="2651760" cy="1554480"/>
          </a:xfrm>
          <a:prstGeom prst="roundRect">
            <a:avLst>
              <a:gd name="adj" fmla="val 5882"/>
            </a:avLst>
          </a:prstGeom>
          <a:solidFill>
            <a:schemeClr val="bg2"/>
          </a:solidFill>
          <a:ln w="12700">
            <a:solidFill>
              <a:schemeClr val="bg2"/>
            </a:solidFill>
            <a:prstDash val="solid"/>
          </a:ln>
        </p:spPr>
      </p:sp>
      <p:sp>
        <p:nvSpPr>
          <p:cNvPr id="5" name="stat 1 number"/>
          <p:cNvSpPr txBox="1"/>
          <p:nvPr/>
        </p:nvSpPr>
        <p:spPr>
          <a:xfrm>
            <a:off x="457200" y="1280160"/>
            <a:ext cx="2651760" cy="868680"/>
          </a:xfrm>
          <a:prstGeom prst="rect">
            <a:avLst/>
          </a:prstGeom>
          <a:noFill/>
          <a:ln/>
        </p:spPr>
        <p:txBody>
          <a:bodyPr wrap="square" lIns="0" tIns="0" rIns="0" bIns="0" rtlCol="0" anchor="ctr"/>
          <a:lstStyle/>
          <a:p>
            <a:pPr algn="ctr" indent="0" marL="0">
              <a:buNone/>
            </a:pPr>
            <a:r>
              <a:rPr lang="en-US" sz="5400" b="1" dirty="0">
                <a:solidFill>
                  <a:schemeClr val="accent3"/>
                </a:solidFill>
                <a:latin typeface="Cambria" pitchFamily="34" charset="0"/>
                <a:ea typeface="Cambria" pitchFamily="34" charset="-122"/>
                <a:cs typeface="Cambria" pitchFamily="34" charset="-120"/>
              </a:rPr>
              <a:t>488</a:t>
            </a:r>
            <a:endParaRPr lang="en-US" sz="5400" dirty="0"/>
          </a:p>
        </p:txBody>
      </p:sp>
      <p:sp>
        <p:nvSpPr>
          <p:cNvPr id="6" name="stat 1 label"/>
          <p:cNvSpPr txBox="1"/>
          <p:nvPr/>
        </p:nvSpPr>
        <p:spPr>
          <a:xfrm>
            <a:off x="457200" y="2148840"/>
            <a:ext cx="265176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unit tests passing</a:t>
            </a:r>
            <a:endParaRPr lang="en-US" sz="1400" dirty="0"/>
          </a:p>
        </p:txBody>
      </p:sp>
      <p:sp>
        <p:nvSpPr>
          <p:cNvPr id="7" name="stat 2 bg"/>
          <p:cNvSpPr/>
          <p:nvPr/>
        </p:nvSpPr>
        <p:spPr>
          <a:xfrm>
            <a:off x="3246120" y="1188720"/>
            <a:ext cx="2651760" cy="1554480"/>
          </a:xfrm>
          <a:prstGeom prst="roundRect">
            <a:avLst>
              <a:gd name="adj" fmla="val 5882"/>
            </a:avLst>
          </a:prstGeom>
          <a:solidFill>
            <a:schemeClr val="bg2"/>
          </a:solidFill>
          <a:ln w="12700">
            <a:solidFill>
              <a:schemeClr val="bg2"/>
            </a:solidFill>
            <a:prstDash val="solid"/>
          </a:ln>
        </p:spPr>
      </p:sp>
      <p:sp>
        <p:nvSpPr>
          <p:cNvPr id="8" name="stat 2 number"/>
          <p:cNvSpPr txBox="1"/>
          <p:nvPr/>
        </p:nvSpPr>
        <p:spPr>
          <a:xfrm>
            <a:off x="3246120" y="1280160"/>
            <a:ext cx="2651760" cy="86868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35</a:t>
            </a:r>
            <a:endParaRPr lang="en-US" sz="5400" dirty="0"/>
          </a:p>
        </p:txBody>
      </p:sp>
      <p:sp>
        <p:nvSpPr>
          <p:cNvPr id="9" name="stat 2 label"/>
          <p:cNvSpPr txBox="1"/>
          <p:nvPr/>
        </p:nvSpPr>
        <p:spPr>
          <a:xfrm>
            <a:off x="3246120" y="2148840"/>
            <a:ext cx="265176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spec files</a:t>
            </a:r>
            <a:endParaRPr lang="en-US" sz="1400" dirty="0"/>
          </a:p>
        </p:txBody>
      </p:sp>
      <p:sp>
        <p:nvSpPr>
          <p:cNvPr id="10" name="stat 3 bg"/>
          <p:cNvSpPr/>
          <p:nvPr/>
        </p:nvSpPr>
        <p:spPr>
          <a:xfrm>
            <a:off x="6035040" y="1188720"/>
            <a:ext cx="2651760" cy="1554480"/>
          </a:xfrm>
          <a:prstGeom prst="roundRect">
            <a:avLst>
              <a:gd name="adj" fmla="val 5882"/>
            </a:avLst>
          </a:prstGeom>
          <a:solidFill>
            <a:schemeClr val="bg2"/>
          </a:solidFill>
          <a:ln w="12700">
            <a:solidFill>
              <a:schemeClr val="bg2"/>
            </a:solidFill>
            <a:prstDash val="solid"/>
          </a:ln>
        </p:spPr>
      </p:sp>
      <p:sp>
        <p:nvSpPr>
          <p:cNvPr id="11" name="stat 3 number"/>
          <p:cNvSpPr txBox="1"/>
          <p:nvPr/>
        </p:nvSpPr>
        <p:spPr>
          <a:xfrm>
            <a:off x="6035040" y="1280160"/>
            <a:ext cx="2651760" cy="86868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808 kB</a:t>
            </a:r>
            <a:endParaRPr lang="en-US" sz="5400" dirty="0"/>
          </a:p>
        </p:txBody>
      </p:sp>
      <p:sp>
        <p:nvSpPr>
          <p:cNvPr id="12" name="stat 3 label"/>
          <p:cNvSpPr txBox="1"/>
          <p:nvPr/>
        </p:nvSpPr>
        <p:spPr>
          <a:xfrm>
            <a:off x="6035040" y="2148840"/>
            <a:ext cx="265176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initial bundle (warn at 850)</a:t>
            </a:r>
            <a:endParaRPr lang="en-US" sz="1400" dirty="0"/>
          </a:p>
        </p:txBody>
      </p:sp>
      <p:sp>
        <p:nvSpPr>
          <p:cNvPr id="13" name="test point 1"/>
          <p:cNvSpPr txBox="1"/>
          <p:nvPr/>
        </p:nvSpPr>
        <p:spPr>
          <a:xfrm>
            <a:off x="457200" y="2926080"/>
            <a:ext cx="8229600" cy="41148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TestBed  </a:t>
            </a:r>
            <a:pPr indent="0" marL="0">
              <a:buNone/>
            </a:pPr>
            <a:r>
              <a:rPr lang="en-US" sz="1400" dirty="0">
                <a:solidFill>
                  <a:schemeClr val="tx1"/>
                </a:solidFill>
                <a:latin typeface="Calibri" pitchFamily="34" charset="0"/>
                <a:ea typeface="Calibri" pitchFamily="34" charset="-122"/>
                <a:cs typeface="Calibri" pitchFamily="34" charset="-120"/>
              </a:rPr>
              <a:t>builds a mini Angular app per test</a:t>
            </a:r>
            <a:endParaRPr lang="en-US" sz="1400" dirty="0"/>
          </a:p>
        </p:txBody>
      </p:sp>
      <p:sp>
        <p:nvSpPr>
          <p:cNvPr id="14" name="test point 2"/>
          <p:cNvSpPr txBox="1"/>
          <p:nvPr/>
        </p:nvSpPr>
        <p:spPr>
          <a:xfrm>
            <a:off x="457200" y="3383280"/>
            <a:ext cx="8229600" cy="41148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FakeApi  </a:t>
            </a:r>
            <a:pPr indent="0" marL="0">
              <a:buNone/>
            </a:pPr>
            <a:r>
              <a:rPr lang="en-US" sz="1400" dirty="0">
                <a:solidFill>
                  <a:schemeClr val="tx1"/>
                </a:solidFill>
                <a:latin typeface="Calibri" pitchFamily="34" charset="0"/>
                <a:ea typeface="Calibri" pitchFamily="34" charset="-122"/>
                <a:cs typeface="Calibri" pitchFamily="34" charset="-120"/>
              </a:rPr>
              <a:t>register what each URL answers, then flush(); an unregistered request fails the test</a:t>
            </a:r>
            <a:endParaRPr lang="en-US" sz="1400" dirty="0"/>
          </a:p>
        </p:txBody>
      </p:sp>
      <p:sp>
        <p:nvSpPr>
          <p:cNvPr id="15" name="test point 3"/>
          <p:cNvSpPr txBox="1"/>
          <p:nvPr/>
        </p:nvSpPr>
        <p:spPr>
          <a:xfrm>
            <a:off x="457200" y="3840480"/>
            <a:ext cx="8229600" cy="41148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Fake timers  </a:t>
            </a:r>
            <a:pPr indent="0" marL="0">
              <a:buNone/>
            </a:pPr>
            <a:r>
              <a:rPr lang="en-US" sz="1400" dirty="0">
                <a:solidFill>
                  <a:schemeClr val="tx1"/>
                </a:solidFill>
                <a:latin typeface="Calibri" pitchFamily="34" charset="0"/>
                <a:ea typeface="Calibri" pitchFamily="34" charset="-122"/>
                <a:cs typeface="Calibri" pitchFamily="34" charset="-120"/>
              </a:rPr>
              <a:t>vi.useFakeTimers() jumps polling forward</a:t>
            </a:r>
            <a:endParaRPr lang="en-US" sz="1400" dirty="0"/>
          </a:p>
        </p:txBody>
      </p:sp>
      <p:sp>
        <p:nvSpPr>
          <p:cNvPr id="16" name="test point 4"/>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Playwright  </a:t>
            </a:r>
            <a:pPr indent="0" marL="0">
              <a:buNone/>
            </a:pPr>
            <a:r>
              <a:rPr lang="en-US" sz="1400" dirty="0">
                <a:solidFill>
                  <a:schemeClr val="tx1"/>
                </a:solidFill>
                <a:latin typeface="Calibri" pitchFamily="34" charset="0"/>
                <a:ea typeface="Calibri" pitchFamily="34" charset="-122"/>
                <a:cs typeface="Calibri" pitchFamily="34" charset="-120"/>
              </a:rPr>
              <a:t>real browser, real backend (not run)</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it is built this way</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468880"/>
                <a:gridCol w="2743200"/>
                <a:gridCol w="3017520"/>
              </a:tblGrid>
              <a:tr h="493776">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Trade-off</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r>
              <a:tr h="493776">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Signals, zoneless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Fine-grained updates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Must use signals for state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93776">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Tokens in localStorage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Survive reload and tabs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Readable by injected JS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93776">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Refresh in interceptor</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place for expiry</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Subtle; all refreshes must use it</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93776">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Generated clients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Types match contract</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Noisy files, needs Java</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93776">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Polling, not push</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socket available</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Up to 10 s latency</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493776">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Global design CSS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Consistent template look</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4k-line file, dark-mode hacks</a:t>
                      </a:r>
                      <a:endParaRPr lang="en-US" sz="1400" dirty="0">
                        <a:latin typeface="Calibri" charset="0"/>
                        <a:ea typeface="Calibri" charset="0"/>
                        <a:cs typeface="Calibri" charset="0"/>
                      </a:endParaRPr>
                    </a:p>
                  </a:txBody>
                  <a:tcPr marL="91440" marR="91440" marT="36576" marB="36576"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Known issues a reviewer may raise</a:t>
            </a:r>
            <a:endParaRPr lang="en-US" sz="3200" dirty="0"/>
          </a:p>
        </p:txBody>
      </p:sp>
      <p:sp>
        <p:nvSpPr>
          <p:cNvPr id="4" name="issue 1 bg"/>
          <p:cNvSpPr/>
          <p:nvPr/>
        </p:nvSpPr>
        <p:spPr>
          <a:xfrm>
            <a:off x="457200" y="1143000"/>
            <a:ext cx="8229600" cy="512064"/>
          </a:xfrm>
          <a:prstGeom prst="roundRect">
            <a:avLst>
              <a:gd name="adj" fmla="val 14286"/>
            </a:avLst>
          </a:prstGeom>
          <a:solidFill>
            <a:schemeClr val="bg2"/>
          </a:solidFill>
          <a:ln w="12700">
            <a:solidFill>
              <a:schemeClr val="bg2"/>
            </a:solidFill>
            <a:prstDash val="solid"/>
          </a:ln>
        </p:spPr>
      </p:sp>
      <p:sp>
        <p:nvSpPr>
          <p:cNvPr id="5" name="issue 1 dot"/>
          <p:cNvSpPr/>
          <p:nvPr/>
        </p:nvSpPr>
        <p:spPr>
          <a:xfrm>
            <a:off x="548640" y="1216152"/>
            <a:ext cx="365760" cy="365760"/>
          </a:xfrm>
          <a:prstGeom prst="ellipse">
            <a:avLst/>
          </a:prstGeom>
          <a:solidFill>
            <a:schemeClr val="accent1"/>
          </a:solidFill>
          <a:ln w="12700">
            <a:solidFill>
              <a:schemeClr val="accent1"/>
            </a:solidFill>
            <a:prstDash val="solid"/>
          </a:ln>
        </p:spPr>
      </p:sp>
      <p:sp>
        <p:nvSpPr>
          <p:cNvPr id="6" name="issue 1 dot label"/>
          <p:cNvSpPr txBox="1"/>
          <p:nvPr/>
        </p:nvSpPr>
        <p:spPr>
          <a:xfrm>
            <a:off x="548640" y="1216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issue 1 name"/>
          <p:cNvSpPr txBox="1"/>
          <p:nvPr/>
        </p:nvSpPr>
        <p:spPr>
          <a:xfrm>
            <a:off x="1051560" y="1143000"/>
            <a:ext cx="2011680" cy="512064"/>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Old URLs in links</a:t>
            </a:r>
            <a:endParaRPr lang="en-US" sz="1400" dirty="0"/>
          </a:p>
        </p:txBody>
      </p:sp>
      <p:sp>
        <p:nvSpPr>
          <p:cNvPr id="8" name="issue 1 text"/>
          <p:cNvSpPr txBox="1"/>
          <p:nvPr/>
        </p:nvSpPr>
        <p:spPr>
          <a:xfrm>
            <a:off x="3108960" y="1143000"/>
            <a:ext cx="54864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Links use /dashboard, not /app/dashboard; sidebar highlight likely broken</a:t>
            </a:r>
            <a:endParaRPr lang="en-US" sz="1400" dirty="0"/>
          </a:p>
        </p:txBody>
      </p:sp>
      <p:sp>
        <p:nvSpPr>
          <p:cNvPr id="9" name="issue 2 bg"/>
          <p:cNvSpPr/>
          <p:nvPr/>
        </p:nvSpPr>
        <p:spPr>
          <a:xfrm>
            <a:off x="457200" y="1728216"/>
            <a:ext cx="8229600" cy="512064"/>
          </a:xfrm>
          <a:prstGeom prst="roundRect">
            <a:avLst>
              <a:gd name="adj" fmla="val 14286"/>
            </a:avLst>
          </a:prstGeom>
          <a:solidFill>
            <a:schemeClr val="bg2"/>
          </a:solidFill>
          <a:ln w="12700">
            <a:solidFill>
              <a:schemeClr val="bg2"/>
            </a:solidFill>
            <a:prstDash val="solid"/>
          </a:ln>
        </p:spPr>
      </p:sp>
      <p:sp>
        <p:nvSpPr>
          <p:cNvPr id="10" name="issue 2 dot"/>
          <p:cNvSpPr/>
          <p:nvPr/>
        </p:nvSpPr>
        <p:spPr>
          <a:xfrm>
            <a:off x="548640" y="1801368"/>
            <a:ext cx="365760" cy="365760"/>
          </a:xfrm>
          <a:prstGeom prst="ellipse">
            <a:avLst/>
          </a:prstGeom>
          <a:solidFill>
            <a:schemeClr val="accent2"/>
          </a:solidFill>
          <a:ln w="12700">
            <a:solidFill>
              <a:schemeClr val="accent2"/>
            </a:solidFill>
            <a:prstDash val="solid"/>
          </a:ln>
        </p:spPr>
      </p:sp>
      <p:sp>
        <p:nvSpPr>
          <p:cNvPr id="11" name="issue 2 dot label"/>
          <p:cNvSpPr txBox="1"/>
          <p:nvPr/>
        </p:nvSpPr>
        <p:spPr>
          <a:xfrm>
            <a:off x="548640" y="18013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2" name="issue 2 name"/>
          <p:cNvSpPr txBox="1"/>
          <p:nvPr/>
        </p:nvSpPr>
        <p:spPr>
          <a:xfrm>
            <a:off x="1051560" y="1728216"/>
            <a:ext cx="2011680" cy="512064"/>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Bank page refresh</a:t>
            </a:r>
            <a:endParaRPr lang="en-US" sz="1400" dirty="0"/>
          </a:p>
        </p:txBody>
      </p:sp>
      <p:sp>
        <p:nvSpPr>
          <p:cNvPr id="13" name="issue 2 text"/>
          <p:cNvSpPr txBox="1"/>
          <p:nvPr/>
        </p:nvSpPr>
        <p:spPr>
          <a:xfrm>
            <a:off x="3108960" y="1728216"/>
            <a:ext cx="54864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Calls auth.refresh directly, bypassing the single-flight renewal</a:t>
            </a:r>
            <a:endParaRPr lang="en-US" sz="1400" dirty="0"/>
          </a:p>
        </p:txBody>
      </p:sp>
      <p:sp>
        <p:nvSpPr>
          <p:cNvPr id="14" name="issue 3 bg"/>
          <p:cNvSpPr/>
          <p:nvPr/>
        </p:nvSpPr>
        <p:spPr>
          <a:xfrm>
            <a:off x="457200" y="2313432"/>
            <a:ext cx="8229600" cy="512064"/>
          </a:xfrm>
          <a:prstGeom prst="roundRect">
            <a:avLst>
              <a:gd name="adj" fmla="val 14286"/>
            </a:avLst>
          </a:prstGeom>
          <a:solidFill>
            <a:schemeClr val="bg2"/>
          </a:solidFill>
          <a:ln w="12700">
            <a:solidFill>
              <a:schemeClr val="bg2"/>
            </a:solidFill>
            <a:prstDash val="solid"/>
          </a:ln>
        </p:spPr>
      </p:sp>
      <p:sp>
        <p:nvSpPr>
          <p:cNvPr id="15" name="issue 3 dot"/>
          <p:cNvSpPr/>
          <p:nvPr/>
        </p:nvSpPr>
        <p:spPr>
          <a:xfrm>
            <a:off x="548640" y="2386584"/>
            <a:ext cx="365760" cy="365760"/>
          </a:xfrm>
          <a:prstGeom prst="ellipse">
            <a:avLst/>
          </a:prstGeom>
          <a:solidFill>
            <a:schemeClr val="accent2"/>
          </a:solidFill>
          <a:ln w="12700">
            <a:solidFill>
              <a:schemeClr val="accent2"/>
            </a:solidFill>
            <a:prstDash val="solid"/>
          </a:ln>
        </p:spPr>
      </p:sp>
      <p:sp>
        <p:nvSpPr>
          <p:cNvPr id="16" name="issue 3 dot label"/>
          <p:cNvSpPr txBox="1"/>
          <p:nvPr/>
        </p:nvSpPr>
        <p:spPr>
          <a:xfrm>
            <a:off x="548640" y="238658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7" name="issue 3 name"/>
          <p:cNvSpPr txBox="1"/>
          <p:nvPr/>
        </p:nvSpPr>
        <p:spPr>
          <a:xfrm>
            <a:off x="1051560" y="2313432"/>
            <a:ext cx="2011680" cy="512064"/>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Idempotency keys</a:t>
            </a:r>
            <a:endParaRPr lang="en-US" sz="1400" dirty="0"/>
          </a:p>
        </p:txBody>
      </p:sp>
      <p:sp>
        <p:nvSpPr>
          <p:cNvPr id="18" name="issue 3 text"/>
          <p:cNvSpPr txBox="1"/>
          <p:nvPr/>
        </p:nvSpPr>
        <p:spPr>
          <a:xfrm>
            <a:off x="3108960" y="2313432"/>
            <a:ext cx="54864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New UUID per click, so a retry can duplicate an order or transfer</a:t>
            </a:r>
            <a:endParaRPr lang="en-US" sz="1400" dirty="0"/>
          </a:p>
        </p:txBody>
      </p:sp>
      <p:sp>
        <p:nvSpPr>
          <p:cNvPr id="19" name="issue 4 bg"/>
          <p:cNvSpPr/>
          <p:nvPr/>
        </p:nvSpPr>
        <p:spPr>
          <a:xfrm>
            <a:off x="457200" y="2898648"/>
            <a:ext cx="8229600" cy="512064"/>
          </a:xfrm>
          <a:prstGeom prst="roundRect">
            <a:avLst>
              <a:gd name="adj" fmla="val 14286"/>
            </a:avLst>
          </a:prstGeom>
          <a:solidFill>
            <a:schemeClr val="bg2"/>
          </a:solidFill>
          <a:ln w="12700">
            <a:solidFill>
              <a:schemeClr val="bg2"/>
            </a:solidFill>
            <a:prstDash val="solid"/>
          </a:ln>
        </p:spPr>
      </p:sp>
      <p:sp>
        <p:nvSpPr>
          <p:cNvPr id="20" name="issue 4 dot"/>
          <p:cNvSpPr/>
          <p:nvPr/>
        </p:nvSpPr>
        <p:spPr>
          <a:xfrm>
            <a:off x="548640" y="2971800"/>
            <a:ext cx="365760" cy="365760"/>
          </a:xfrm>
          <a:prstGeom prst="ellipse">
            <a:avLst/>
          </a:prstGeom>
          <a:solidFill>
            <a:schemeClr val="accent2"/>
          </a:solidFill>
          <a:ln w="12700">
            <a:solidFill>
              <a:schemeClr val="accent2"/>
            </a:solidFill>
            <a:prstDash val="solid"/>
          </a:ln>
        </p:spPr>
      </p:sp>
      <p:sp>
        <p:nvSpPr>
          <p:cNvPr id="21" name="issue 4 dot label"/>
          <p:cNvSpPr txBox="1"/>
          <p:nvPr/>
        </p:nvSpPr>
        <p:spPr>
          <a:xfrm>
            <a:off x="548640" y="29718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2" name="issue 4 name"/>
          <p:cNvSpPr txBox="1"/>
          <p:nvPr/>
        </p:nvSpPr>
        <p:spPr>
          <a:xfrm>
            <a:off x="1051560" y="2898648"/>
            <a:ext cx="2011680" cy="512064"/>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Console logging</a:t>
            </a:r>
            <a:endParaRPr lang="en-US" sz="1400" dirty="0"/>
          </a:p>
        </p:txBody>
      </p:sp>
      <p:sp>
        <p:nvSpPr>
          <p:cNvPr id="23" name="issue 4 text"/>
          <p:cNvSpPr txBox="1"/>
          <p:nvPr/>
        </p:nvSpPr>
        <p:spPr>
          <a:xfrm>
            <a:off x="3108960" y="2898648"/>
            <a:ext cx="54864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Bank page logs account numbers and transfer data</a:t>
            </a:r>
            <a:endParaRPr lang="en-US" sz="1400" dirty="0"/>
          </a:p>
        </p:txBody>
      </p:sp>
      <p:sp>
        <p:nvSpPr>
          <p:cNvPr id="24" name="issue 5 bg"/>
          <p:cNvSpPr/>
          <p:nvPr/>
        </p:nvSpPr>
        <p:spPr>
          <a:xfrm>
            <a:off x="457200" y="3483864"/>
            <a:ext cx="8229600" cy="512064"/>
          </a:xfrm>
          <a:prstGeom prst="roundRect">
            <a:avLst>
              <a:gd name="adj" fmla="val 14286"/>
            </a:avLst>
          </a:prstGeom>
          <a:solidFill>
            <a:schemeClr val="bg2"/>
          </a:solidFill>
          <a:ln w="12700">
            <a:solidFill>
              <a:schemeClr val="bg2"/>
            </a:solidFill>
            <a:prstDash val="solid"/>
          </a:ln>
        </p:spPr>
      </p:sp>
      <p:sp>
        <p:nvSpPr>
          <p:cNvPr id="25" name="issue 5 dot"/>
          <p:cNvSpPr/>
          <p:nvPr/>
        </p:nvSpPr>
        <p:spPr>
          <a:xfrm>
            <a:off x="548640" y="3557016"/>
            <a:ext cx="365760" cy="365760"/>
          </a:xfrm>
          <a:prstGeom prst="ellipse">
            <a:avLst/>
          </a:prstGeom>
          <a:solidFill>
            <a:schemeClr val="accent2"/>
          </a:solidFill>
          <a:ln w="12700">
            <a:solidFill>
              <a:schemeClr val="accent2"/>
            </a:solidFill>
            <a:prstDash val="solid"/>
          </a:ln>
        </p:spPr>
      </p:sp>
      <p:sp>
        <p:nvSpPr>
          <p:cNvPr id="26" name="issue 5 dot label"/>
          <p:cNvSpPr txBox="1"/>
          <p:nvPr/>
        </p:nvSpPr>
        <p:spPr>
          <a:xfrm>
            <a:off x="548640" y="355701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27" name="issue 5 name"/>
          <p:cNvSpPr txBox="1"/>
          <p:nvPr/>
        </p:nvSpPr>
        <p:spPr>
          <a:xfrm>
            <a:off x="1051560" y="3483864"/>
            <a:ext cx="2011680" cy="512064"/>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Error codes</a:t>
            </a:r>
            <a:endParaRPr lang="en-US" sz="1400" dirty="0"/>
          </a:p>
        </p:txBody>
      </p:sp>
      <p:sp>
        <p:nvSpPr>
          <p:cNvPr id="28" name="issue 5 text"/>
          <p:cNvSpPr txBox="1"/>
          <p:nvPr/>
        </p:nvSpPr>
        <p:spPr>
          <a:xfrm>
            <a:off x="3108960" y="3483864"/>
            <a:ext cx="54864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FUND-402 and ACC-402 are not in the contract; ACC-409 not in the catalog</a:t>
            </a:r>
            <a:endParaRPr lang="en-US" sz="1400" dirty="0"/>
          </a:p>
        </p:txBody>
      </p:sp>
      <p:sp>
        <p:nvSpPr>
          <p:cNvPr id="29" name="issue 6 bg"/>
          <p:cNvSpPr/>
          <p:nvPr/>
        </p:nvSpPr>
        <p:spPr>
          <a:xfrm>
            <a:off x="457200" y="4069080"/>
            <a:ext cx="8229600" cy="512064"/>
          </a:xfrm>
          <a:prstGeom prst="roundRect">
            <a:avLst>
              <a:gd name="adj" fmla="val 14286"/>
            </a:avLst>
          </a:prstGeom>
          <a:solidFill>
            <a:schemeClr val="bg2"/>
          </a:solidFill>
          <a:ln w="12700">
            <a:solidFill>
              <a:schemeClr val="bg2"/>
            </a:solidFill>
            <a:prstDash val="solid"/>
          </a:ln>
        </p:spPr>
      </p:sp>
      <p:sp>
        <p:nvSpPr>
          <p:cNvPr id="30" name="issue 6 dot"/>
          <p:cNvSpPr/>
          <p:nvPr/>
        </p:nvSpPr>
        <p:spPr>
          <a:xfrm>
            <a:off x="548640" y="4142232"/>
            <a:ext cx="365760" cy="365760"/>
          </a:xfrm>
          <a:prstGeom prst="ellipse">
            <a:avLst/>
          </a:prstGeom>
          <a:solidFill>
            <a:schemeClr val="accent2"/>
          </a:solidFill>
          <a:ln w="12700">
            <a:solidFill>
              <a:schemeClr val="accent2"/>
            </a:solidFill>
            <a:prstDash val="solid"/>
          </a:ln>
        </p:spPr>
      </p:sp>
      <p:sp>
        <p:nvSpPr>
          <p:cNvPr id="31" name="issue 6 dot label"/>
          <p:cNvSpPr txBox="1"/>
          <p:nvPr/>
        </p:nvSpPr>
        <p:spPr>
          <a:xfrm>
            <a:off x="548640" y="41422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32" name="issue 6 name"/>
          <p:cNvSpPr txBox="1"/>
          <p:nvPr/>
        </p:nvSpPr>
        <p:spPr>
          <a:xfrm>
            <a:off x="1051560" y="4069080"/>
            <a:ext cx="2011680" cy="512064"/>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Blotter</a:t>
            </a:r>
            <a:endParaRPr lang="en-US" sz="1400" dirty="0"/>
          </a:p>
        </p:txBody>
      </p:sp>
      <p:sp>
        <p:nvSpPr>
          <p:cNvPr id="33" name="issue 6 text"/>
          <p:cNvSpPr txBox="1"/>
          <p:nvPr/>
        </p:nvSpPr>
        <p:spPr>
          <a:xfrm>
            <a:off x="3108960" y="4069080"/>
            <a:ext cx="548640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Date-only sorting, hard-coded rupee sign, polling stops early</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Likely questions, short answers</a:t>
            </a:r>
            <a:endParaRPr lang="en-US" sz="3200" dirty="0"/>
          </a:p>
        </p:txBody>
      </p:sp>
      <p:sp>
        <p:nvSpPr>
          <p:cNvPr id="4" name="qa 1 bg"/>
          <p:cNvSpPr/>
          <p:nvPr/>
        </p:nvSpPr>
        <p:spPr>
          <a:xfrm>
            <a:off x="457200" y="1188720"/>
            <a:ext cx="4023360" cy="1645920"/>
          </a:xfrm>
          <a:prstGeom prst="roundRect">
            <a:avLst>
              <a:gd name="adj" fmla="val 5556"/>
            </a:avLst>
          </a:prstGeom>
          <a:solidFill>
            <a:schemeClr val="bg2"/>
          </a:solidFill>
          <a:ln w="12700">
            <a:solidFill>
              <a:schemeClr val="bg2"/>
            </a:solidFill>
            <a:prstDash val="solid"/>
          </a:ln>
        </p:spPr>
      </p:sp>
      <p:sp>
        <p:nvSpPr>
          <p:cNvPr id="5" name="qa 1 head"/>
          <p:cNvSpPr txBox="1"/>
          <p:nvPr/>
        </p:nvSpPr>
        <p:spPr>
          <a:xfrm>
            <a:off x="640080" y="1298448"/>
            <a:ext cx="3657600" cy="36576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Why signals?</a:t>
            </a:r>
            <a:endParaRPr lang="en-US" sz="1600" dirty="0"/>
          </a:p>
        </p:txBody>
      </p:sp>
      <p:sp>
        <p:nvSpPr>
          <p:cNvPr id="6" name="qa 1 body"/>
          <p:cNvSpPr txBox="1"/>
          <p:nvPr/>
        </p:nvSpPr>
        <p:spPr>
          <a:xfrm>
            <a:off x="640080" y="1691640"/>
            <a:ext cx="365760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app is zoneless; signals tell Angular what to redraw, and computed keeps derived values correct.</a:t>
            </a:r>
            <a:endParaRPr lang="en-US" sz="1400" dirty="0"/>
          </a:p>
        </p:txBody>
      </p:sp>
      <p:sp>
        <p:nvSpPr>
          <p:cNvPr id="7" name="qa 2 bg"/>
          <p:cNvSpPr/>
          <p:nvPr/>
        </p:nvSpPr>
        <p:spPr>
          <a:xfrm>
            <a:off x="4663440" y="1188720"/>
            <a:ext cx="4023360" cy="1645920"/>
          </a:xfrm>
          <a:prstGeom prst="roundRect">
            <a:avLst>
              <a:gd name="adj" fmla="val 5556"/>
            </a:avLst>
          </a:prstGeom>
          <a:solidFill>
            <a:schemeClr val="bg2"/>
          </a:solidFill>
          <a:ln w="12700">
            <a:solidFill>
              <a:schemeClr val="bg2"/>
            </a:solidFill>
            <a:prstDash val="solid"/>
          </a:ln>
        </p:spPr>
      </p:sp>
      <p:sp>
        <p:nvSpPr>
          <p:cNvPr id="8" name="qa 2 head"/>
          <p:cNvSpPr txBox="1"/>
          <p:nvPr/>
        </p:nvSpPr>
        <p:spPr>
          <a:xfrm>
            <a:off x="4846320" y="1298448"/>
            <a:ext cx="365760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What does the guard protect?</a:t>
            </a:r>
            <a:endParaRPr lang="en-US" sz="1600" dirty="0"/>
          </a:p>
        </p:txBody>
      </p:sp>
      <p:sp>
        <p:nvSpPr>
          <p:cNvPr id="9" name="qa 2 body"/>
          <p:cNvSpPr txBox="1"/>
          <p:nvPr/>
        </p:nvSpPr>
        <p:spPr>
          <a:xfrm>
            <a:off x="4846320" y="1691640"/>
            <a:ext cx="365760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Nothing security-wise. It avoids broken pages; the API enforces auth on every call.</a:t>
            </a:r>
            <a:endParaRPr lang="en-US" sz="1400" dirty="0"/>
          </a:p>
        </p:txBody>
      </p:sp>
      <p:sp>
        <p:nvSpPr>
          <p:cNvPr id="10" name="qa 3 bg"/>
          <p:cNvSpPr/>
          <p:nvPr/>
        </p:nvSpPr>
        <p:spPr>
          <a:xfrm>
            <a:off x="457200" y="2971800"/>
            <a:ext cx="4023360" cy="1645920"/>
          </a:xfrm>
          <a:prstGeom prst="roundRect">
            <a:avLst>
              <a:gd name="adj" fmla="val 5556"/>
            </a:avLst>
          </a:prstGeom>
          <a:solidFill>
            <a:schemeClr val="bg2"/>
          </a:solidFill>
          <a:ln w="12700">
            <a:solidFill>
              <a:schemeClr val="bg2"/>
            </a:solidFill>
            <a:prstDash val="solid"/>
          </a:ln>
        </p:spPr>
      </p:sp>
      <p:sp>
        <p:nvSpPr>
          <p:cNvPr id="11" name="qa 3 head"/>
          <p:cNvSpPr txBox="1"/>
          <p:nvPr/>
        </p:nvSpPr>
        <p:spPr>
          <a:xfrm>
            <a:off x="640080" y="3081528"/>
            <a:ext cx="3657600" cy="36576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Two requests 401 at once?</a:t>
            </a:r>
            <a:endParaRPr lang="en-US" sz="1600" dirty="0"/>
          </a:p>
        </p:txBody>
      </p:sp>
      <p:sp>
        <p:nvSpPr>
          <p:cNvPr id="12" name="qa 3 body"/>
          <p:cNvSpPr txBox="1"/>
          <p:nvPr/>
        </p:nvSpPr>
        <p:spPr>
          <a:xfrm>
            <a:off x="640080" y="3474720"/>
            <a:ext cx="365760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shared refresh call; both retry. Avoids rotating-token theft detection.</a:t>
            </a:r>
            <a:endParaRPr lang="en-US" sz="1400" dirty="0"/>
          </a:p>
        </p:txBody>
      </p:sp>
      <p:sp>
        <p:nvSpPr>
          <p:cNvPr id="13" name="qa 4 bg"/>
          <p:cNvSpPr/>
          <p:nvPr/>
        </p:nvSpPr>
        <p:spPr>
          <a:xfrm>
            <a:off x="4663440" y="2971800"/>
            <a:ext cx="4023360" cy="1645920"/>
          </a:xfrm>
          <a:prstGeom prst="roundRect">
            <a:avLst>
              <a:gd name="adj" fmla="val 5556"/>
            </a:avLst>
          </a:prstGeom>
          <a:solidFill>
            <a:schemeClr val="bg2"/>
          </a:solidFill>
          <a:ln w="12700">
            <a:solidFill>
              <a:schemeClr val="bg2"/>
            </a:solidFill>
            <a:prstDash val="solid"/>
          </a:ln>
        </p:spPr>
      </p:sp>
      <p:sp>
        <p:nvSpPr>
          <p:cNvPr id="14" name="qa 4 head"/>
          <p:cNvSpPr txBox="1"/>
          <p:nvPr/>
        </p:nvSpPr>
        <p:spPr>
          <a:xfrm>
            <a:off x="4846320" y="3081528"/>
            <a:ext cx="365760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How does the UI learn a fill?</a:t>
            </a:r>
            <a:endParaRPr lang="en-US" sz="1600" dirty="0"/>
          </a:p>
        </p:txBody>
      </p:sp>
      <p:sp>
        <p:nvSpPr>
          <p:cNvPr id="15" name="qa 4 body"/>
          <p:cNvSpPr txBox="1"/>
          <p:nvPr/>
        </p:nvSpPr>
        <p:spPr>
          <a:xfrm>
            <a:off x="4846320" y="3474720"/>
            <a:ext cx="365760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Notification polling every 10 s bumps a counter; pages with effects on it reload.</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YRV Angular Guide">
  <a:themeElements>
    <a:clrScheme name="YRV Angular Guide">
      <a:dk1>
        <a:srgbClr val="1B1B2F"/>
      </a:dk1>
      <a:lt1>
        <a:srgbClr val="FFFFFF"/>
      </a:lt1>
      <a:dk2>
        <a:srgbClr val="2B2D5B"/>
      </a:dk2>
      <a:lt2>
        <a:srgbClr val="F1F2F8"/>
      </a:lt2>
      <a:accent1>
        <a:srgbClr val="D7263D"/>
      </a:accent1>
      <a:accent2>
        <a:srgbClr val="4F5BD5"/>
      </a:accent2>
      <a:accent3>
        <a:srgbClr val="1B998B"/>
      </a:accent3>
      <a:accent4>
        <a:srgbClr val="E08E2B"/>
      </a:accent4>
      <a:accent5>
        <a:srgbClr val="6C757D"/>
      </a:accent5>
      <a:accent6>
        <a:srgbClr val="2E294E"/>
      </a:accent6>
      <a:hlink>
        <a:srgbClr val="4F5BD5"/>
      </a:hlink>
      <a:folHlink>
        <a:srgbClr val="6C757D"/>
      </a:folHlink>
    </a:clrScheme>
    <a:fontScheme name="YRV Angular Gu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From Zero - YRV Trading UI</dc:title>
  <dc:subject>PptxGenJS Presentation</dc:subject>
  <dc:creator>PptxGenJS</dc:creator>
  <cp:lastModifiedBy>PptxGenJS</cp:lastModifiedBy>
  <cp:revision>1</cp:revision>
  <dcterms:created xsi:type="dcterms:W3CDTF">2026-10-05T06:25:18Z</dcterms:created>
  <dcterms:modified xsi:type="dcterms:W3CDTF">2026-10-05T06:25:18Z</dcterms:modified>
</cp:coreProperties>
</file>